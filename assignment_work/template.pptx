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5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5143500" cx="9144000"/>
  <p:notesSz cx="6858000" cy="9144000"/>
  <p:embeddedFontLst>
    <p:embeddedFont>
      <p:font typeface="Hammersmith One"/>
      <p:regular r:id="rId18"/>
    </p:embeddedFont>
    <p:embeddedFont>
      <p:font typeface="Barlow Medium"/>
      <p:regular r:id="rId19"/>
      <p:bold r:id="rId20"/>
      <p:italic r:id="rId21"/>
      <p:boldItalic r:id="rId22"/>
    </p:embeddedFont>
    <p:embeddedFont>
      <p:font typeface="Rubik"/>
      <p:regular r:id="rId23"/>
      <p:bold r:id="rId24"/>
      <p:italic r:id="rId25"/>
      <p:boldItalic r:id="rId26"/>
    </p:embeddedFont>
    <p:embeddedFont>
      <p:font typeface="Barlow"/>
      <p:regular r:id="rId27"/>
      <p:bold r:id="rId28"/>
      <p:italic r:id="rId29"/>
      <p:boldItalic r:id="rId30"/>
    </p:embeddedFont>
    <p:embeddedFont>
      <p:font typeface="Open Sans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F24060D-8B13-4285-8094-4FC221398E0A}">
  <a:tblStyle styleId="{3F24060D-8B13-4285-8094-4FC221398E0A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BarlowMedium-bold.fntdata"/><Relationship Id="rId22" Type="http://schemas.openxmlformats.org/officeDocument/2006/relationships/font" Target="fonts/BarlowMedium-boldItalic.fntdata"/><Relationship Id="rId21" Type="http://schemas.openxmlformats.org/officeDocument/2006/relationships/font" Target="fonts/BarlowMedium-italic.fntdata"/><Relationship Id="rId24" Type="http://schemas.openxmlformats.org/officeDocument/2006/relationships/font" Target="fonts/Rubik-bold.fntdata"/><Relationship Id="rId23" Type="http://schemas.openxmlformats.org/officeDocument/2006/relationships/font" Target="fonts/Rubik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Rubik-boldItalic.fntdata"/><Relationship Id="rId25" Type="http://schemas.openxmlformats.org/officeDocument/2006/relationships/font" Target="fonts/Rubik-italic.fntdata"/><Relationship Id="rId28" Type="http://schemas.openxmlformats.org/officeDocument/2006/relationships/font" Target="fonts/Barlow-bold.fntdata"/><Relationship Id="rId27" Type="http://schemas.openxmlformats.org/officeDocument/2006/relationships/font" Target="fonts/Barlow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Barlow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OpenSans-regular.fntdata"/><Relationship Id="rId30" Type="http://schemas.openxmlformats.org/officeDocument/2006/relationships/font" Target="fonts/Barlow-boldItalic.fntdata"/><Relationship Id="rId11" Type="http://schemas.openxmlformats.org/officeDocument/2006/relationships/slide" Target="slides/slide5.xml"/><Relationship Id="rId33" Type="http://schemas.openxmlformats.org/officeDocument/2006/relationships/font" Target="fonts/OpenSans-italic.fntdata"/><Relationship Id="rId10" Type="http://schemas.openxmlformats.org/officeDocument/2006/relationships/slide" Target="slides/slide4.xml"/><Relationship Id="rId32" Type="http://schemas.openxmlformats.org/officeDocument/2006/relationships/font" Target="fonts/OpenSans-bold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34" Type="http://schemas.openxmlformats.org/officeDocument/2006/relationships/font" Target="fonts/OpenSans-boldItalic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BarlowMedium-regular.fntdata"/><Relationship Id="rId18" Type="http://schemas.openxmlformats.org/officeDocument/2006/relationships/font" Target="fonts/HammersmithOne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2712440d47a_0_8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g2712440d47a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712440d47a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712440d47a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27121d42694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27121d42694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db896687fa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db896687fa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27121d42694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27121d42694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eebcd034f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eebcd034f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eebcd034f6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eebcd034f6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dc3fc724fe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dc3fc724fe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db896687fa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db896687fa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eebcd034f6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eebcd034f6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eebcd034f6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eebcd034f6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7945818" y="4663225"/>
            <a:ext cx="10752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FSDM Cohort-7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7744802" y="4663225"/>
            <a:ext cx="12765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FSDM Cohort-7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1" name="Google Shape;41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2" name="Google Shape;42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3" name="Google Shape;43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6" name="Google Shape;46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9" name="Google Shape;49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0" name="Google Shape;50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_HEADER_1">
    <p:bg>
      <p:bgPr>
        <a:solidFill>
          <a:srgbClr val="F2343D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232648" y="0"/>
            <a:ext cx="911353" cy="8515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>
            <p:ph type="title"/>
          </p:nvPr>
        </p:nvSpPr>
        <p:spPr>
          <a:xfrm>
            <a:off x="455225" y="1131610"/>
            <a:ext cx="4813500" cy="28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Hammersmith One"/>
              <a:buNone/>
              <a:defRPr sz="60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Hammersmith One"/>
              <a:buNone/>
              <a:defRPr sz="60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Hammersmith One"/>
              <a:buNone/>
              <a:defRPr sz="60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Hammersmith One"/>
              <a:buNone/>
              <a:defRPr sz="60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Hammersmith One"/>
              <a:buNone/>
              <a:defRPr sz="60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Hammersmith One"/>
              <a:buNone/>
              <a:defRPr sz="60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Hammersmith One"/>
              <a:buNone/>
              <a:defRPr sz="60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Hammersmith One"/>
              <a:buNone/>
              <a:defRPr sz="60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Hammersmith One"/>
              <a:buNone/>
              <a:defRPr sz="60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2">
  <p:cSld name="CUSTOM_4_1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57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232650" y="0"/>
            <a:ext cx="911349" cy="8515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8" name="Google Shape;58;p14"/>
          <p:cNvCxnSpPr/>
          <p:nvPr/>
        </p:nvCxnSpPr>
        <p:spPr>
          <a:xfrm>
            <a:off x="514725" y="175500"/>
            <a:ext cx="0" cy="4792500"/>
          </a:xfrm>
          <a:prstGeom prst="straightConnector1">
            <a:avLst/>
          </a:prstGeom>
          <a:noFill/>
          <a:ln cap="flat" cmpd="sng" w="19050">
            <a:solidFill>
              <a:srgbClr val="3967B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9" name="Google Shape;59;p14"/>
          <p:cNvSpPr txBox="1"/>
          <p:nvPr>
            <p:ph idx="1" type="subTitle"/>
          </p:nvPr>
        </p:nvSpPr>
        <p:spPr>
          <a:xfrm rot="-5400000">
            <a:off x="-1364175" y="3149400"/>
            <a:ext cx="3234300" cy="40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Barlow Medium"/>
              <a:buNone/>
              <a:defRPr>
                <a:solidFill>
                  <a:srgbClr val="F2343D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Barlow Medium"/>
              <a:buNone/>
              <a:defRPr>
                <a:solidFill>
                  <a:srgbClr val="F2343D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Barlow Medium"/>
              <a:buNone/>
              <a:defRPr>
                <a:solidFill>
                  <a:srgbClr val="F2343D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Barlow Medium"/>
              <a:buNone/>
              <a:defRPr>
                <a:solidFill>
                  <a:srgbClr val="F2343D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Barlow Medium"/>
              <a:buNone/>
              <a:defRPr>
                <a:solidFill>
                  <a:srgbClr val="F2343D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Barlow Medium"/>
              <a:buNone/>
              <a:defRPr>
                <a:solidFill>
                  <a:srgbClr val="F2343D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Barlow Medium"/>
              <a:buNone/>
              <a:defRPr>
                <a:solidFill>
                  <a:srgbClr val="F2343D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Barlow Medium"/>
              <a:buNone/>
              <a:defRPr>
                <a:solidFill>
                  <a:srgbClr val="F2343D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Barlow Medium"/>
              <a:buNone/>
              <a:defRPr>
                <a:solidFill>
                  <a:srgbClr val="F2343D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60" name="Google Shape;60;p14"/>
          <p:cNvSpPr txBox="1"/>
          <p:nvPr>
            <p:ph idx="2" type="subTitle"/>
          </p:nvPr>
        </p:nvSpPr>
        <p:spPr>
          <a:xfrm rot="-5400000">
            <a:off x="-382725" y="609750"/>
            <a:ext cx="1271400" cy="40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800"/>
              <a:buFont typeface="Barlow Medium"/>
              <a:buNone/>
              <a:defRPr>
                <a:solidFill>
                  <a:srgbClr val="F2343D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1400"/>
              <a:buFont typeface="Barlow Medium"/>
              <a:buNone/>
              <a:defRPr>
                <a:solidFill>
                  <a:srgbClr val="F2343D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1400"/>
              <a:buFont typeface="Barlow Medium"/>
              <a:buNone/>
              <a:defRPr>
                <a:solidFill>
                  <a:srgbClr val="F2343D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1400"/>
              <a:buFont typeface="Barlow Medium"/>
              <a:buNone/>
              <a:defRPr>
                <a:solidFill>
                  <a:srgbClr val="F2343D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1400"/>
              <a:buFont typeface="Barlow Medium"/>
              <a:buNone/>
              <a:defRPr>
                <a:solidFill>
                  <a:srgbClr val="F2343D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1400"/>
              <a:buFont typeface="Barlow Medium"/>
              <a:buNone/>
              <a:defRPr>
                <a:solidFill>
                  <a:srgbClr val="F2343D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1400"/>
              <a:buFont typeface="Barlow Medium"/>
              <a:buNone/>
              <a:defRPr>
                <a:solidFill>
                  <a:srgbClr val="F2343D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1400"/>
              <a:buFont typeface="Barlow Medium"/>
              <a:buNone/>
              <a:defRPr>
                <a:solidFill>
                  <a:srgbClr val="F2343D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1400"/>
              <a:buFont typeface="Barlow Medium"/>
              <a:buNone/>
              <a:defRPr>
                <a:solidFill>
                  <a:srgbClr val="F2343D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61" name="Google Shape;61;p14"/>
          <p:cNvSpPr txBox="1"/>
          <p:nvPr/>
        </p:nvSpPr>
        <p:spPr>
          <a:xfrm>
            <a:off x="5733268" y="4919851"/>
            <a:ext cx="3477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Strictly confidential, do not share outside Belajarlagi.</a:t>
            </a:r>
            <a:endParaRPr b="1" sz="7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, title and text 1">
  <p:cSld name="CUSTOM_4_1_2_2_1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/>
          <p:nvPr>
            <p:ph idx="2" type="pic"/>
          </p:nvPr>
        </p:nvSpPr>
        <p:spPr>
          <a:xfrm>
            <a:off x="514725" y="0"/>
            <a:ext cx="42918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5"/>
          <p:cNvSpPr txBox="1"/>
          <p:nvPr>
            <p:ph idx="1" type="subTitle"/>
          </p:nvPr>
        </p:nvSpPr>
        <p:spPr>
          <a:xfrm rot="-5400000">
            <a:off x="-1364175" y="3149400"/>
            <a:ext cx="3234300" cy="40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Barlow Medium"/>
              <a:buNone/>
              <a:defRPr>
                <a:solidFill>
                  <a:srgbClr val="F2343D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Barlow Medium"/>
              <a:buNone/>
              <a:defRPr>
                <a:solidFill>
                  <a:srgbClr val="F2343D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Barlow Medium"/>
              <a:buNone/>
              <a:defRPr>
                <a:solidFill>
                  <a:srgbClr val="F2343D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Barlow Medium"/>
              <a:buNone/>
              <a:defRPr>
                <a:solidFill>
                  <a:srgbClr val="F2343D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Barlow Medium"/>
              <a:buNone/>
              <a:defRPr>
                <a:solidFill>
                  <a:srgbClr val="F2343D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Barlow Medium"/>
              <a:buNone/>
              <a:defRPr>
                <a:solidFill>
                  <a:srgbClr val="F2343D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Barlow Medium"/>
              <a:buNone/>
              <a:defRPr>
                <a:solidFill>
                  <a:srgbClr val="F2343D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Barlow Medium"/>
              <a:buNone/>
              <a:defRPr>
                <a:solidFill>
                  <a:srgbClr val="F2343D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Barlow Medium"/>
              <a:buNone/>
              <a:defRPr>
                <a:solidFill>
                  <a:srgbClr val="F2343D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65" name="Google Shape;65;p15"/>
          <p:cNvSpPr txBox="1"/>
          <p:nvPr>
            <p:ph idx="3" type="subTitle"/>
          </p:nvPr>
        </p:nvSpPr>
        <p:spPr>
          <a:xfrm rot="-5400000">
            <a:off x="-382725" y="609750"/>
            <a:ext cx="1271400" cy="40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800"/>
              <a:buFont typeface="Barlow Medium"/>
              <a:buNone/>
              <a:defRPr>
                <a:solidFill>
                  <a:srgbClr val="F2343D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1400"/>
              <a:buFont typeface="Barlow Medium"/>
              <a:buNone/>
              <a:defRPr>
                <a:solidFill>
                  <a:srgbClr val="F2343D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1400"/>
              <a:buFont typeface="Barlow Medium"/>
              <a:buNone/>
              <a:defRPr>
                <a:solidFill>
                  <a:srgbClr val="F2343D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1400"/>
              <a:buFont typeface="Barlow Medium"/>
              <a:buNone/>
              <a:defRPr>
                <a:solidFill>
                  <a:srgbClr val="F2343D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1400"/>
              <a:buFont typeface="Barlow Medium"/>
              <a:buNone/>
              <a:defRPr>
                <a:solidFill>
                  <a:srgbClr val="F2343D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1400"/>
              <a:buFont typeface="Barlow Medium"/>
              <a:buNone/>
              <a:defRPr>
                <a:solidFill>
                  <a:srgbClr val="F2343D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1400"/>
              <a:buFont typeface="Barlow Medium"/>
              <a:buNone/>
              <a:defRPr>
                <a:solidFill>
                  <a:srgbClr val="F2343D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1400"/>
              <a:buFont typeface="Barlow Medium"/>
              <a:buNone/>
              <a:defRPr>
                <a:solidFill>
                  <a:srgbClr val="F2343D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1400"/>
              <a:buFont typeface="Barlow Medium"/>
              <a:buNone/>
              <a:defRPr>
                <a:solidFill>
                  <a:srgbClr val="F2343D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pic>
        <p:nvPicPr>
          <p:cNvPr id="66" name="Google Shape;66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232650" y="0"/>
            <a:ext cx="911349" cy="851500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5"/>
          <p:cNvSpPr txBox="1"/>
          <p:nvPr>
            <p:ph type="title"/>
          </p:nvPr>
        </p:nvSpPr>
        <p:spPr>
          <a:xfrm>
            <a:off x="4909447" y="955750"/>
            <a:ext cx="3518700" cy="14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2343D"/>
              </a:buClr>
              <a:buSzPts val="4000"/>
              <a:buFont typeface="Hammersmith One"/>
              <a:buNone/>
              <a:defRPr sz="4000">
                <a:solidFill>
                  <a:srgbClr val="F2343D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5"/>
          <p:cNvSpPr txBox="1"/>
          <p:nvPr>
            <p:ph idx="4" type="body"/>
          </p:nvPr>
        </p:nvSpPr>
        <p:spPr>
          <a:xfrm>
            <a:off x="4909450" y="2781650"/>
            <a:ext cx="3720900" cy="14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343D"/>
              </a:buClr>
              <a:buSzPts val="1800"/>
              <a:buChar char="●"/>
              <a:defRPr>
                <a:solidFill>
                  <a:srgbClr val="1A1E27"/>
                </a:solidFill>
              </a:defRPr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343D"/>
              </a:buClr>
              <a:buSzPts val="1400"/>
              <a:buChar char="○"/>
              <a:defRPr>
                <a:solidFill>
                  <a:srgbClr val="1A1E27"/>
                </a:solidFill>
              </a:defRPr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343D"/>
              </a:buClr>
              <a:buSzPts val="1400"/>
              <a:buChar char="■"/>
              <a:defRPr>
                <a:solidFill>
                  <a:srgbClr val="1A1E27"/>
                </a:solidFill>
              </a:defRPr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343D"/>
              </a:buClr>
              <a:buSzPts val="1400"/>
              <a:buChar char="●"/>
              <a:defRPr>
                <a:solidFill>
                  <a:srgbClr val="1A1E27"/>
                </a:solidFill>
              </a:defRPr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343D"/>
              </a:buClr>
              <a:buSzPts val="1400"/>
              <a:buChar char="○"/>
              <a:defRPr>
                <a:solidFill>
                  <a:srgbClr val="1A1E27"/>
                </a:solidFill>
              </a:defRPr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343D"/>
              </a:buClr>
              <a:buSzPts val="1400"/>
              <a:buChar char="■"/>
              <a:defRPr>
                <a:solidFill>
                  <a:srgbClr val="1A1E27"/>
                </a:solidFill>
              </a:defRPr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343D"/>
              </a:buClr>
              <a:buSzPts val="1400"/>
              <a:buChar char="●"/>
              <a:defRPr>
                <a:solidFill>
                  <a:srgbClr val="1A1E27"/>
                </a:solidFill>
              </a:defRPr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343D"/>
              </a:buClr>
              <a:buSzPts val="1400"/>
              <a:buChar char="○"/>
              <a:defRPr>
                <a:solidFill>
                  <a:srgbClr val="1A1E27"/>
                </a:solidFill>
              </a:defRPr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343D"/>
              </a:buClr>
              <a:buSzPts val="1400"/>
              <a:buChar char="■"/>
              <a:defRPr>
                <a:solidFill>
                  <a:srgbClr val="1A1E27"/>
                </a:solidFill>
              </a:defRPr>
            </a:lvl9pPr>
          </a:lstStyle>
          <a:p/>
        </p:txBody>
      </p:sp>
      <p:sp>
        <p:nvSpPr>
          <p:cNvPr id="69" name="Google Shape;69;p15"/>
          <p:cNvSpPr txBox="1"/>
          <p:nvPr/>
        </p:nvSpPr>
        <p:spPr>
          <a:xfrm>
            <a:off x="5733268" y="4919851"/>
            <a:ext cx="3477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Strictly confidential, do not share outside Belajarlagi.</a:t>
            </a:r>
            <a:endParaRPr b="1" sz="7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 1 and text">
  <p:cSld name="CUSTOM_1_2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232650" y="0"/>
            <a:ext cx="911349" cy="8515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2" name="Google Shape;72;p16"/>
          <p:cNvCxnSpPr/>
          <p:nvPr/>
        </p:nvCxnSpPr>
        <p:spPr>
          <a:xfrm>
            <a:off x="514725" y="175500"/>
            <a:ext cx="0" cy="4792500"/>
          </a:xfrm>
          <a:prstGeom prst="straightConnector1">
            <a:avLst/>
          </a:prstGeom>
          <a:noFill/>
          <a:ln cap="flat" cmpd="sng" w="19050">
            <a:solidFill>
              <a:srgbClr val="3967B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3" name="Google Shape;73;p16"/>
          <p:cNvSpPr txBox="1"/>
          <p:nvPr>
            <p:ph idx="1" type="subTitle"/>
          </p:nvPr>
        </p:nvSpPr>
        <p:spPr>
          <a:xfrm rot="-5400000">
            <a:off x="-1364175" y="3149400"/>
            <a:ext cx="3234300" cy="40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Barlow Medium"/>
              <a:buNone/>
              <a:defRPr>
                <a:solidFill>
                  <a:srgbClr val="F2343D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Barlow Medium"/>
              <a:buNone/>
              <a:defRPr>
                <a:solidFill>
                  <a:srgbClr val="F2343D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Barlow Medium"/>
              <a:buNone/>
              <a:defRPr>
                <a:solidFill>
                  <a:srgbClr val="F2343D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Barlow Medium"/>
              <a:buNone/>
              <a:defRPr>
                <a:solidFill>
                  <a:srgbClr val="F2343D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Barlow Medium"/>
              <a:buNone/>
              <a:defRPr>
                <a:solidFill>
                  <a:srgbClr val="F2343D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Barlow Medium"/>
              <a:buNone/>
              <a:defRPr>
                <a:solidFill>
                  <a:srgbClr val="F2343D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Barlow Medium"/>
              <a:buNone/>
              <a:defRPr>
                <a:solidFill>
                  <a:srgbClr val="F2343D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Barlow Medium"/>
              <a:buNone/>
              <a:defRPr>
                <a:solidFill>
                  <a:srgbClr val="F2343D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Barlow Medium"/>
              <a:buNone/>
              <a:defRPr>
                <a:solidFill>
                  <a:srgbClr val="F2343D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74" name="Google Shape;74;p16"/>
          <p:cNvSpPr txBox="1"/>
          <p:nvPr>
            <p:ph idx="2" type="subTitle"/>
          </p:nvPr>
        </p:nvSpPr>
        <p:spPr>
          <a:xfrm rot="-5400000">
            <a:off x="-382725" y="609750"/>
            <a:ext cx="1271400" cy="40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800"/>
              <a:buFont typeface="Barlow Medium"/>
              <a:buNone/>
              <a:defRPr>
                <a:solidFill>
                  <a:srgbClr val="F2343D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1400"/>
              <a:buFont typeface="Barlow Medium"/>
              <a:buNone/>
              <a:defRPr>
                <a:solidFill>
                  <a:srgbClr val="F2343D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1400"/>
              <a:buFont typeface="Barlow Medium"/>
              <a:buNone/>
              <a:defRPr>
                <a:solidFill>
                  <a:srgbClr val="F2343D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1400"/>
              <a:buFont typeface="Barlow Medium"/>
              <a:buNone/>
              <a:defRPr>
                <a:solidFill>
                  <a:srgbClr val="F2343D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1400"/>
              <a:buFont typeface="Barlow Medium"/>
              <a:buNone/>
              <a:defRPr>
                <a:solidFill>
                  <a:srgbClr val="F2343D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1400"/>
              <a:buFont typeface="Barlow Medium"/>
              <a:buNone/>
              <a:defRPr>
                <a:solidFill>
                  <a:srgbClr val="F2343D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1400"/>
              <a:buFont typeface="Barlow Medium"/>
              <a:buNone/>
              <a:defRPr>
                <a:solidFill>
                  <a:srgbClr val="F2343D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1400"/>
              <a:buFont typeface="Barlow Medium"/>
              <a:buNone/>
              <a:defRPr>
                <a:solidFill>
                  <a:srgbClr val="F2343D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1400"/>
              <a:buFont typeface="Barlow Medium"/>
              <a:buNone/>
              <a:defRPr>
                <a:solidFill>
                  <a:srgbClr val="F2343D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75" name="Google Shape;75;p16"/>
          <p:cNvSpPr/>
          <p:nvPr>
            <p:ph idx="3" type="pic"/>
          </p:nvPr>
        </p:nvSpPr>
        <p:spPr>
          <a:xfrm>
            <a:off x="709600" y="1656600"/>
            <a:ext cx="4896300" cy="3157200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16"/>
          <p:cNvSpPr txBox="1"/>
          <p:nvPr>
            <p:ph idx="4" type="body"/>
          </p:nvPr>
        </p:nvSpPr>
        <p:spPr>
          <a:xfrm>
            <a:off x="6363350" y="2809500"/>
            <a:ext cx="2007600" cy="85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343D"/>
              </a:buClr>
              <a:buSzPts val="1800"/>
              <a:buChar char="●"/>
              <a:defRPr>
                <a:solidFill>
                  <a:srgbClr val="1A1E27"/>
                </a:solidFill>
              </a:defRPr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343D"/>
              </a:buClr>
              <a:buSzPts val="1400"/>
              <a:buChar char="○"/>
              <a:defRPr>
                <a:solidFill>
                  <a:srgbClr val="1A1E27"/>
                </a:solidFill>
              </a:defRPr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343D"/>
              </a:buClr>
              <a:buSzPts val="1400"/>
              <a:buChar char="■"/>
              <a:defRPr>
                <a:solidFill>
                  <a:srgbClr val="1A1E27"/>
                </a:solidFill>
              </a:defRPr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343D"/>
              </a:buClr>
              <a:buSzPts val="1400"/>
              <a:buChar char="●"/>
              <a:defRPr>
                <a:solidFill>
                  <a:srgbClr val="1A1E27"/>
                </a:solidFill>
              </a:defRPr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343D"/>
              </a:buClr>
              <a:buSzPts val="1400"/>
              <a:buChar char="○"/>
              <a:defRPr>
                <a:solidFill>
                  <a:srgbClr val="1A1E27"/>
                </a:solidFill>
              </a:defRPr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343D"/>
              </a:buClr>
              <a:buSzPts val="1400"/>
              <a:buChar char="■"/>
              <a:defRPr>
                <a:solidFill>
                  <a:srgbClr val="1A1E27"/>
                </a:solidFill>
              </a:defRPr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343D"/>
              </a:buClr>
              <a:buSzPts val="1400"/>
              <a:buChar char="●"/>
              <a:defRPr>
                <a:solidFill>
                  <a:srgbClr val="1A1E27"/>
                </a:solidFill>
              </a:defRPr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343D"/>
              </a:buClr>
              <a:buSzPts val="1400"/>
              <a:buChar char="○"/>
              <a:defRPr>
                <a:solidFill>
                  <a:srgbClr val="1A1E27"/>
                </a:solidFill>
              </a:defRPr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343D"/>
              </a:buClr>
              <a:buSzPts val="1400"/>
              <a:buChar char="■"/>
              <a:defRPr>
                <a:solidFill>
                  <a:srgbClr val="1A1E27"/>
                </a:solidFill>
              </a:defRPr>
            </a:lvl9pPr>
          </a:lstStyle>
          <a:p/>
        </p:txBody>
      </p:sp>
      <p:sp>
        <p:nvSpPr>
          <p:cNvPr id="77" name="Google Shape;77;p16"/>
          <p:cNvSpPr txBox="1"/>
          <p:nvPr>
            <p:ph type="title"/>
          </p:nvPr>
        </p:nvSpPr>
        <p:spPr>
          <a:xfrm>
            <a:off x="603922" y="175500"/>
            <a:ext cx="3518700" cy="14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2343D"/>
              </a:buClr>
              <a:buSzPts val="4000"/>
              <a:buFont typeface="Hammersmith One"/>
              <a:buNone/>
              <a:defRPr sz="4000">
                <a:solidFill>
                  <a:srgbClr val="F2343D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" name="Google Shape;78;p16"/>
          <p:cNvSpPr txBox="1"/>
          <p:nvPr/>
        </p:nvSpPr>
        <p:spPr>
          <a:xfrm>
            <a:off x="5733268" y="4919851"/>
            <a:ext cx="3477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Strictly confidential, do not share outside Belajarlagi.</a:t>
            </a:r>
            <a:endParaRPr b="1" sz="7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 1 and text 1">
  <p:cSld name="CUSTOM_1_2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232650" y="0"/>
            <a:ext cx="911349" cy="8515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1" name="Google Shape;81;p17"/>
          <p:cNvCxnSpPr/>
          <p:nvPr/>
        </p:nvCxnSpPr>
        <p:spPr>
          <a:xfrm>
            <a:off x="514725" y="175500"/>
            <a:ext cx="0" cy="4792500"/>
          </a:xfrm>
          <a:prstGeom prst="straightConnector1">
            <a:avLst/>
          </a:prstGeom>
          <a:noFill/>
          <a:ln cap="flat" cmpd="sng" w="19050">
            <a:solidFill>
              <a:srgbClr val="3967B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2" name="Google Shape;82;p17"/>
          <p:cNvSpPr txBox="1"/>
          <p:nvPr>
            <p:ph idx="1" type="subTitle"/>
          </p:nvPr>
        </p:nvSpPr>
        <p:spPr>
          <a:xfrm rot="-5400000">
            <a:off x="-1364175" y="3149400"/>
            <a:ext cx="3234300" cy="40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Barlow Medium"/>
              <a:buNone/>
              <a:defRPr>
                <a:solidFill>
                  <a:srgbClr val="F2343D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Barlow Medium"/>
              <a:buNone/>
              <a:defRPr>
                <a:solidFill>
                  <a:srgbClr val="F2343D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Barlow Medium"/>
              <a:buNone/>
              <a:defRPr>
                <a:solidFill>
                  <a:srgbClr val="F2343D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Barlow Medium"/>
              <a:buNone/>
              <a:defRPr>
                <a:solidFill>
                  <a:srgbClr val="F2343D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Barlow Medium"/>
              <a:buNone/>
              <a:defRPr>
                <a:solidFill>
                  <a:srgbClr val="F2343D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Barlow Medium"/>
              <a:buNone/>
              <a:defRPr>
                <a:solidFill>
                  <a:srgbClr val="F2343D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Barlow Medium"/>
              <a:buNone/>
              <a:defRPr>
                <a:solidFill>
                  <a:srgbClr val="F2343D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Barlow Medium"/>
              <a:buNone/>
              <a:defRPr>
                <a:solidFill>
                  <a:srgbClr val="F2343D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Barlow Medium"/>
              <a:buNone/>
              <a:defRPr>
                <a:solidFill>
                  <a:srgbClr val="F2343D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83" name="Google Shape;83;p17"/>
          <p:cNvSpPr txBox="1"/>
          <p:nvPr>
            <p:ph idx="2" type="subTitle"/>
          </p:nvPr>
        </p:nvSpPr>
        <p:spPr>
          <a:xfrm rot="-5400000">
            <a:off x="-382725" y="609750"/>
            <a:ext cx="1271400" cy="40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800"/>
              <a:buFont typeface="Barlow Medium"/>
              <a:buNone/>
              <a:defRPr>
                <a:solidFill>
                  <a:srgbClr val="F2343D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1400"/>
              <a:buFont typeface="Barlow Medium"/>
              <a:buNone/>
              <a:defRPr>
                <a:solidFill>
                  <a:srgbClr val="F2343D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1400"/>
              <a:buFont typeface="Barlow Medium"/>
              <a:buNone/>
              <a:defRPr>
                <a:solidFill>
                  <a:srgbClr val="F2343D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1400"/>
              <a:buFont typeface="Barlow Medium"/>
              <a:buNone/>
              <a:defRPr>
                <a:solidFill>
                  <a:srgbClr val="F2343D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1400"/>
              <a:buFont typeface="Barlow Medium"/>
              <a:buNone/>
              <a:defRPr>
                <a:solidFill>
                  <a:srgbClr val="F2343D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1400"/>
              <a:buFont typeface="Barlow Medium"/>
              <a:buNone/>
              <a:defRPr>
                <a:solidFill>
                  <a:srgbClr val="F2343D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1400"/>
              <a:buFont typeface="Barlow Medium"/>
              <a:buNone/>
              <a:defRPr>
                <a:solidFill>
                  <a:srgbClr val="F2343D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1400"/>
              <a:buFont typeface="Barlow Medium"/>
              <a:buNone/>
              <a:defRPr>
                <a:solidFill>
                  <a:srgbClr val="F2343D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1400"/>
              <a:buFont typeface="Barlow Medium"/>
              <a:buNone/>
              <a:defRPr>
                <a:solidFill>
                  <a:srgbClr val="F2343D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84" name="Google Shape;84;p17"/>
          <p:cNvSpPr/>
          <p:nvPr>
            <p:ph idx="3" type="pic"/>
          </p:nvPr>
        </p:nvSpPr>
        <p:spPr>
          <a:xfrm>
            <a:off x="709600" y="1656600"/>
            <a:ext cx="4896300" cy="3157200"/>
          </a:xfrm>
          <a:prstGeom prst="rect">
            <a:avLst/>
          </a:prstGeom>
          <a:noFill/>
          <a:ln>
            <a:noFill/>
          </a:ln>
        </p:spPr>
      </p:sp>
      <p:sp>
        <p:nvSpPr>
          <p:cNvPr id="85" name="Google Shape;85;p17"/>
          <p:cNvSpPr txBox="1"/>
          <p:nvPr>
            <p:ph idx="4" type="body"/>
          </p:nvPr>
        </p:nvSpPr>
        <p:spPr>
          <a:xfrm>
            <a:off x="6363350" y="2809500"/>
            <a:ext cx="2007600" cy="85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343D"/>
              </a:buClr>
              <a:buSzPts val="1800"/>
              <a:buChar char="●"/>
              <a:defRPr>
                <a:solidFill>
                  <a:srgbClr val="1A1E27"/>
                </a:solidFill>
              </a:defRPr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343D"/>
              </a:buClr>
              <a:buSzPts val="1400"/>
              <a:buChar char="○"/>
              <a:defRPr>
                <a:solidFill>
                  <a:srgbClr val="1A1E27"/>
                </a:solidFill>
              </a:defRPr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343D"/>
              </a:buClr>
              <a:buSzPts val="1400"/>
              <a:buChar char="■"/>
              <a:defRPr>
                <a:solidFill>
                  <a:srgbClr val="1A1E27"/>
                </a:solidFill>
              </a:defRPr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343D"/>
              </a:buClr>
              <a:buSzPts val="1400"/>
              <a:buChar char="●"/>
              <a:defRPr>
                <a:solidFill>
                  <a:srgbClr val="1A1E27"/>
                </a:solidFill>
              </a:defRPr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343D"/>
              </a:buClr>
              <a:buSzPts val="1400"/>
              <a:buChar char="○"/>
              <a:defRPr>
                <a:solidFill>
                  <a:srgbClr val="1A1E27"/>
                </a:solidFill>
              </a:defRPr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343D"/>
              </a:buClr>
              <a:buSzPts val="1400"/>
              <a:buChar char="■"/>
              <a:defRPr>
                <a:solidFill>
                  <a:srgbClr val="1A1E27"/>
                </a:solidFill>
              </a:defRPr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343D"/>
              </a:buClr>
              <a:buSzPts val="1400"/>
              <a:buChar char="●"/>
              <a:defRPr>
                <a:solidFill>
                  <a:srgbClr val="1A1E27"/>
                </a:solidFill>
              </a:defRPr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343D"/>
              </a:buClr>
              <a:buSzPts val="1400"/>
              <a:buChar char="○"/>
              <a:defRPr>
                <a:solidFill>
                  <a:srgbClr val="1A1E27"/>
                </a:solidFill>
              </a:defRPr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343D"/>
              </a:buClr>
              <a:buSzPts val="1400"/>
              <a:buChar char="■"/>
              <a:defRPr>
                <a:solidFill>
                  <a:srgbClr val="1A1E27"/>
                </a:solidFill>
              </a:defRPr>
            </a:lvl9pPr>
          </a:lstStyle>
          <a:p/>
        </p:txBody>
      </p:sp>
      <p:sp>
        <p:nvSpPr>
          <p:cNvPr id="86" name="Google Shape;86;p17"/>
          <p:cNvSpPr txBox="1"/>
          <p:nvPr>
            <p:ph type="title"/>
          </p:nvPr>
        </p:nvSpPr>
        <p:spPr>
          <a:xfrm>
            <a:off x="603922" y="175500"/>
            <a:ext cx="3518700" cy="14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2343D"/>
              </a:buClr>
              <a:buSzPts val="4000"/>
              <a:buFont typeface="Hammersmith One"/>
              <a:buNone/>
              <a:defRPr sz="4000">
                <a:solidFill>
                  <a:srgbClr val="F2343D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7"/>
          <p:cNvSpPr txBox="1"/>
          <p:nvPr/>
        </p:nvSpPr>
        <p:spPr>
          <a:xfrm>
            <a:off x="5733268" y="4919851"/>
            <a:ext cx="3477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Strictly confidential, do not share outside Belajarlagi.</a:t>
            </a:r>
            <a:endParaRPr b="1" sz="7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19" Type="http://schemas.openxmlformats.org/officeDocument/2006/relationships/theme" Target="../theme/theme1.xml"/><Relationship Id="rId6" Type="http://schemas.openxmlformats.org/officeDocument/2006/relationships/slideLayout" Target="../slideLayouts/slideLayout5.xml"/><Relationship Id="rId18" Type="http://schemas.openxmlformats.org/officeDocument/2006/relationships/slideLayout" Target="../slideLayouts/slideLayout17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oogle Shape;6;p1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pic>
          <p:nvPicPr>
            <p:cNvPr id="7" name="Google Shape;7;p1"/>
            <p:cNvPicPr preferRelativeResize="0"/>
            <p:nvPr/>
          </p:nvPicPr>
          <p:blipFill>
            <a:blip r:embed="rId1">
              <a:alphaModFix/>
            </a:blip>
            <a:stretch>
              <a:fillRect/>
            </a:stretch>
          </p:blipFill>
          <p:spPr>
            <a:xfrm>
              <a:off x="0" y="0"/>
              <a:ext cx="9144000" cy="5143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" name="Google Shape;8;p1"/>
            <p:cNvSpPr/>
            <p:nvPr/>
          </p:nvSpPr>
          <p:spPr>
            <a:xfrm>
              <a:off x="172600" y="138075"/>
              <a:ext cx="828600" cy="897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" name="Google Shape;9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8950" y="295350"/>
            <a:ext cx="837000" cy="837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9"/>
          <p:cNvSpPr txBox="1"/>
          <p:nvPr>
            <p:ph idx="4294967295" type="body"/>
          </p:nvPr>
        </p:nvSpPr>
        <p:spPr>
          <a:xfrm>
            <a:off x="768576" y="1345666"/>
            <a:ext cx="4040400" cy="5127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" sz="1600" u="sng">
                <a:solidFill>
                  <a:schemeClr val="dk1"/>
                </a:solidFill>
                <a:highlight>
                  <a:schemeClr val="lt1"/>
                </a:highlight>
                <a:latin typeface="Rubik"/>
                <a:ea typeface="Rubik"/>
                <a:cs typeface="Rubik"/>
                <a:sym typeface="Rubik"/>
              </a:rPr>
              <a:t>Nama Peserta</a:t>
            </a:r>
            <a:endParaRPr sz="1600" u="sng">
              <a:solidFill>
                <a:schemeClr val="dk1"/>
              </a:solidFill>
              <a:highlight>
                <a:schemeClr val="lt1"/>
              </a:highlight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95" name="Google Shape;95;p19"/>
          <p:cNvSpPr txBox="1"/>
          <p:nvPr/>
        </p:nvSpPr>
        <p:spPr>
          <a:xfrm>
            <a:off x="768576" y="1914000"/>
            <a:ext cx="7954800" cy="2401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Assignment </a:t>
            </a:r>
            <a:r>
              <a:rPr b="1" lang="en" sz="4000">
                <a:latin typeface="Rubik"/>
                <a:ea typeface="Rubik"/>
                <a:cs typeface="Rubik"/>
                <a:sym typeface="Rubik"/>
              </a:rPr>
              <a:t>Template</a:t>
            </a:r>
            <a:endParaRPr b="1" sz="4000">
              <a:solidFill>
                <a:srgbClr val="000000"/>
              </a:solidFill>
              <a:latin typeface="Rubik"/>
              <a:ea typeface="Rubik"/>
              <a:cs typeface="Rubik"/>
              <a:sym typeface="Rubi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5200">
                <a:solidFill>
                  <a:srgbClr val="FF2828"/>
                </a:solidFill>
                <a:latin typeface="Rubik"/>
                <a:ea typeface="Rubik"/>
                <a:cs typeface="Rubik"/>
                <a:sym typeface="Rubik"/>
              </a:rPr>
              <a:t>Claude for Non-Tech Professional</a:t>
            </a:r>
            <a:endParaRPr b="1" sz="5200">
              <a:solidFill>
                <a:srgbClr val="FF2828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96" name="Google Shape;96;p19"/>
          <p:cNvSpPr txBox="1"/>
          <p:nvPr/>
        </p:nvSpPr>
        <p:spPr>
          <a:xfrm>
            <a:off x="5011800" y="4568875"/>
            <a:ext cx="3820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595959"/>
                </a:solidFill>
                <a:latin typeface="Rubik"/>
                <a:ea typeface="Rubik"/>
                <a:cs typeface="Rubik"/>
                <a:sym typeface="Rubik"/>
              </a:rPr>
              <a:t>MBCL Cohort 1</a:t>
            </a:r>
            <a:endParaRPr b="1" sz="1500">
              <a:solidFill>
                <a:srgbClr val="595959"/>
              </a:solidFill>
              <a:latin typeface="Rubik"/>
              <a:ea typeface="Rubik"/>
              <a:cs typeface="Rubik"/>
              <a:sym typeface="Rubik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 txBox="1"/>
          <p:nvPr>
            <p:ph idx="1" type="body"/>
          </p:nvPr>
        </p:nvSpPr>
        <p:spPr>
          <a:xfrm>
            <a:off x="212050" y="1820625"/>
            <a:ext cx="8764200" cy="26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Notes:</a:t>
            </a:r>
            <a:endParaRPr b="1" sz="160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Slide template ini hanya sebagai </a:t>
            </a:r>
            <a:r>
              <a:rPr b="1" lang="en" sz="1600">
                <a:solidFill>
                  <a:schemeClr val="dk1"/>
                </a:solidFill>
                <a:highlight>
                  <a:srgbClr val="EEFF41"/>
                </a:highlight>
                <a:latin typeface="Rubik"/>
                <a:ea typeface="Rubik"/>
                <a:cs typeface="Rubik"/>
                <a:sym typeface="Rubik"/>
              </a:rPr>
              <a:t>REFERENSI</a:t>
            </a:r>
            <a:r>
              <a:rPr b="1" lang="en" sz="16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" sz="16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saat mengerjakan tugas, </a:t>
            </a:r>
            <a:r>
              <a:rPr b="1" lang="en" sz="16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tidak harus sama persis</a:t>
            </a:r>
            <a:r>
              <a:rPr lang="en" sz="16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. Teman Belajar sangat diperkenankan untuk </a:t>
            </a:r>
            <a:r>
              <a:rPr b="1" lang="en" sz="16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melakukan improvisasi/berkreasi</a:t>
            </a:r>
            <a:r>
              <a:rPr lang="en" sz="16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selama masih sesuai dengan poin-poin yang tertulis dalam assignment brief.</a:t>
            </a:r>
            <a:endParaRPr sz="160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4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Semangat yaa 💪✨</a:t>
            </a:r>
            <a:endParaRPr sz="160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**</a:t>
            </a:r>
            <a:r>
              <a:rPr lang="en" sz="16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Silakan hapus bagian yang tidak diperlukan.</a:t>
            </a:r>
            <a:endParaRPr sz="160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pic>
        <p:nvPicPr>
          <p:cNvPr id="102" name="Google Shape;102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95300" y="243000"/>
            <a:ext cx="837000" cy="83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20"/>
          <p:cNvSpPr txBox="1"/>
          <p:nvPr>
            <p:ph type="title"/>
          </p:nvPr>
        </p:nvSpPr>
        <p:spPr>
          <a:xfrm>
            <a:off x="212050" y="343125"/>
            <a:ext cx="6577500" cy="104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Rubik"/>
                <a:ea typeface="Rubik"/>
                <a:cs typeface="Rubik"/>
                <a:sym typeface="Rubik"/>
              </a:rPr>
              <a:t>Assignment Format Template</a:t>
            </a:r>
            <a:endParaRPr b="1">
              <a:latin typeface="Rubik"/>
              <a:ea typeface="Rubik"/>
              <a:cs typeface="Rubik"/>
              <a:sym typeface="Rubi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2828"/>
                </a:solidFill>
                <a:latin typeface="Rubik"/>
                <a:ea typeface="Rubik"/>
                <a:cs typeface="Rubik"/>
                <a:sym typeface="Rubik"/>
              </a:rPr>
              <a:t>Assignment 1</a:t>
            </a:r>
            <a:endParaRPr b="1">
              <a:solidFill>
                <a:srgbClr val="FF2828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04" name="Google Shape;104;p20"/>
          <p:cNvSpPr txBox="1"/>
          <p:nvPr/>
        </p:nvSpPr>
        <p:spPr>
          <a:xfrm>
            <a:off x="5011800" y="4568875"/>
            <a:ext cx="3820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595959"/>
                </a:solidFill>
                <a:latin typeface="Rubik"/>
                <a:ea typeface="Rubik"/>
                <a:cs typeface="Rubik"/>
                <a:sym typeface="Rubik"/>
              </a:rPr>
              <a:t>MB CL Cohort 1</a:t>
            </a:r>
            <a:endParaRPr b="1" sz="1500">
              <a:solidFill>
                <a:srgbClr val="595959"/>
              </a:solidFill>
              <a:latin typeface="Rubik"/>
              <a:ea typeface="Rubik"/>
              <a:cs typeface="Rubik"/>
              <a:sym typeface="Rubik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/>
          <p:nvPr>
            <p:ph idx="3" type="pic"/>
          </p:nvPr>
        </p:nvSpPr>
        <p:spPr>
          <a:xfrm>
            <a:off x="709600" y="1014600"/>
            <a:ext cx="4896300" cy="3799200"/>
          </a:xfrm>
          <a:prstGeom prst="rect">
            <a:avLst/>
          </a:prstGeom>
        </p:spPr>
      </p:sp>
      <p:sp>
        <p:nvSpPr>
          <p:cNvPr id="110" name="Google Shape;110;p21"/>
          <p:cNvSpPr txBox="1"/>
          <p:nvPr>
            <p:ph idx="4" type="body"/>
          </p:nvPr>
        </p:nvSpPr>
        <p:spPr>
          <a:xfrm>
            <a:off x="5733850" y="1014600"/>
            <a:ext cx="3324900" cy="379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P</a:t>
            </a:r>
            <a:r>
              <a:rPr lang="en" sz="14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erkenalan singkat tentang diri dan pekerjaan: </a:t>
            </a:r>
            <a:endParaRPr sz="140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Nama	: </a:t>
            </a:r>
            <a:endParaRPr sz="140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Role		:</a:t>
            </a:r>
            <a:endParaRPr sz="140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Industri	:</a:t>
            </a:r>
            <a:endParaRPr sz="140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Problem Singkat </a:t>
            </a:r>
            <a:r>
              <a:rPr lang="en" sz="14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:</a:t>
            </a:r>
            <a:endParaRPr sz="140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indent="0" lvl="0" marL="0" marR="38100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4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“Kami sering menghadapi [problem X] dalam pekerjaan sehari-hari”</a:t>
            </a:r>
            <a:endParaRPr i="1" sz="140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11" name="Google Shape;111;p21"/>
          <p:cNvSpPr txBox="1"/>
          <p:nvPr>
            <p:ph type="title"/>
          </p:nvPr>
        </p:nvSpPr>
        <p:spPr>
          <a:xfrm>
            <a:off x="603925" y="175500"/>
            <a:ext cx="6063300" cy="83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FF2828"/>
                </a:solidFill>
                <a:latin typeface="Rubik"/>
                <a:ea typeface="Rubik"/>
                <a:cs typeface="Rubik"/>
                <a:sym typeface="Rubik"/>
              </a:rPr>
              <a:t>About Me</a:t>
            </a:r>
            <a:endParaRPr b="1">
              <a:solidFill>
                <a:srgbClr val="FF2828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12" name="Google Shape;112;p21"/>
          <p:cNvSpPr txBox="1"/>
          <p:nvPr>
            <p:ph idx="2" type="subTitle"/>
          </p:nvPr>
        </p:nvSpPr>
        <p:spPr>
          <a:xfrm rot="-5400000">
            <a:off x="-551775" y="778875"/>
            <a:ext cx="1609500" cy="40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Assignment</a:t>
            </a:r>
            <a:endParaRPr sz="1200"/>
          </a:p>
        </p:txBody>
      </p:sp>
      <p:sp>
        <p:nvSpPr>
          <p:cNvPr id="113" name="Google Shape;113;p21"/>
          <p:cNvSpPr txBox="1"/>
          <p:nvPr>
            <p:ph idx="1" type="subTitle"/>
          </p:nvPr>
        </p:nvSpPr>
        <p:spPr>
          <a:xfrm rot="-5400000">
            <a:off x="-1364175" y="3149400"/>
            <a:ext cx="3234300" cy="40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>
                <a:latin typeface="Barlow"/>
                <a:ea typeface="Barlow"/>
                <a:cs typeface="Barlow"/>
                <a:sym typeface="Barlow"/>
              </a:rPr>
              <a:t>CLAUDE FOR NON-TECH PROFESSIONALS</a:t>
            </a:r>
            <a:endParaRPr b="1">
              <a:latin typeface="Barlow"/>
              <a:ea typeface="Barlow"/>
              <a:cs typeface="Barlow"/>
              <a:sym typeface="Barlow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2"/>
          <p:cNvSpPr txBox="1"/>
          <p:nvPr>
            <p:ph idx="2" type="subTitle"/>
          </p:nvPr>
        </p:nvSpPr>
        <p:spPr>
          <a:xfrm rot="-5400000">
            <a:off x="-551775" y="778875"/>
            <a:ext cx="1609500" cy="40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Assignment</a:t>
            </a:r>
            <a:endParaRPr sz="1200"/>
          </a:p>
        </p:txBody>
      </p:sp>
      <p:sp>
        <p:nvSpPr>
          <p:cNvPr id="119" name="Google Shape;119;p22"/>
          <p:cNvSpPr/>
          <p:nvPr/>
        </p:nvSpPr>
        <p:spPr>
          <a:xfrm>
            <a:off x="548640" y="274320"/>
            <a:ext cx="78000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222E"/>
              </a:buClr>
              <a:buSzPts val="3200"/>
              <a:buFont typeface="Calibri"/>
              <a:buNone/>
            </a:pPr>
            <a:r>
              <a:rPr b="1" lang="en" sz="3200">
                <a:solidFill>
                  <a:srgbClr val="E8222E"/>
                </a:solidFill>
                <a:latin typeface="Rubik"/>
                <a:ea typeface="Rubik"/>
                <a:cs typeface="Rubik"/>
                <a:sym typeface="Rubik"/>
              </a:rPr>
              <a:t>3R Framework</a:t>
            </a:r>
            <a:endParaRPr b="1" sz="3200">
              <a:solidFill>
                <a:srgbClr val="E8222E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20" name="Google Shape;120;p22"/>
          <p:cNvSpPr/>
          <p:nvPr/>
        </p:nvSpPr>
        <p:spPr>
          <a:xfrm>
            <a:off x="586797" y="950000"/>
            <a:ext cx="8199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i="1" lang="en" sz="1100" u="none" cap="none" strike="noStrike">
                <a:solidFill>
                  <a:srgbClr val="6B7280"/>
                </a:solidFill>
                <a:latin typeface="Rubik"/>
                <a:ea typeface="Rubik"/>
                <a:cs typeface="Rubik"/>
                <a:sym typeface="Rubik"/>
              </a:rPr>
              <a:t>Identifikasi </a:t>
            </a:r>
            <a:r>
              <a:rPr i="1" lang="en" sz="1100">
                <a:solidFill>
                  <a:srgbClr val="6B7280"/>
                </a:solidFill>
                <a:latin typeface="Rubik"/>
                <a:ea typeface="Rubik"/>
                <a:cs typeface="Rubik"/>
                <a:sym typeface="Rubik"/>
              </a:rPr>
              <a:t>task atau masalah yang ingin kamu selesaikan menggunakan Claude dengan framework 3R</a:t>
            </a:r>
            <a:endParaRPr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21" name="Google Shape;121;p22"/>
          <p:cNvSpPr txBox="1"/>
          <p:nvPr>
            <p:ph idx="1" type="subTitle"/>
          </p:nvPr>
        </p:nvSpPr>
        <p:spPr>
          <a:xfrm rot="-5400000">
            <a:off x="-1364175" y="3149400"/>
            <a:ext cx="3234300" cy="40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>
                <a:latin typeface="Barlow"/>
                <a:ea typeface="Barlow"/>
                <a:cs typeface="Barlow"/>
                <a:sym typeface="Barlow"/>
              </a:rPr>
              <a:t>CLAUDE FOR NON-TECH PROFESSIONALS</a:t>
            </a:r>
            <a:endParaRPr/>
          </a:p>
        </p:txBody>
      </p:sp>
      <p:graphicFrame>
        <p:nvGraphicFramePr>
          <p:cNvPr id="122" name="Google Shape;122;p22"/>
          <p:cNvGraphicFramePr/>
          <p:nvPr/>
        </p:nvGraphicFramePr>
        <p:xfrm>
          <a:off x="709800" y="1446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{3F24060D-8B13-4285-8094-4FC221398E0A}</a:tableStyleId>
              </a:tblPr>
              <a:tblGrid>
                <a:gridCol w="2727200"/>
                <a:gridCol w="2286875"/>
                <a:gridCol w="2855025"/>
              </a:tblGrid>
              <a:tr h="324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1F1F1F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TUGASKU</a:t>
                      </a:r>
                      <a:endParaRPr b="1" sz="1100">
                        <a:solidFill>
                          <a:srgbClr val="1F1F1F"/>
                        </a:solidFill>
                        <a:latin typeface="Rubik"/>
                        <a:ea typeface="Rubik"/>
                        <a:cs typeface="Rubik"/>
                        <a:sym typeface="Rubik"/>
                      </a:endParaRPr>
                    </a:p>
                  </a:txBody>
                  <a:tcPr marT="76200" marB="76200" marR="114300" marL="114300">
                    <a:lnL cap="flat" cmpd="sng" w="79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1F1F1F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R MANA YANG TERPENUHI</a:t>
                      </a:r>
                      <a:endParaRPr b="1" sz="1100">
                        <a:solidFill>
                          <a:srgbClr val="1F1F1F"/>
                        </a:solidFill>
                        <a:latin typeface="Rubik"/>
                        <a:ea typeface="Rubik"/>
                        <a:cs typeface="Rubik"/>
                        <a:sym typeface="Rubik"/>
                      </a:endParaRPr>
                    </a:p>
                  </a:txBody>
                  <a:tcPr marT="76200" marB="76200" marR="114300" marL="114300">
                    <a:lnL cap="flat" cmpd="sng" w="79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1F1F1F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KENAPA</a:t>
                      </a:r>
                      <a:endParaRPr b="1" sz="1100">
                        <a:solidFill>
                          <a:srgbClr val="1F1F1F"/>
                        </a:solidFill>
                        <a:latin typeface="Rubik"/>
                        <a:ea typeface="Rubik"/>
                        <a:cs typeface="Rubik"/>
                        <a:sym typeface="Rubik"/>
                      </a:endParaRPr>
                    </a:p>
                  </a:txBody>
                  <a:tcPr marT="76200" marB="76200" marR="114300" marL="114300">
                    <a:lnL cap="flat" cmpd="sng" w="79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</a:tr>
              <a:tr h="438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100">
                          <a:solidFill>
                            <a:schemeClr val="dk2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Rekap feedback workshop dari Google Form</a:t>
                      </a:r>
                      <a:endParaRPr i="1" sz="1100">
                        <a:solidFill>
                          <a:schemeClr val="dk2"/>
                        </a:solidFill>
                        <a:latin typeface="Rubik"/>
                        <a:ea typeface="Rubik"/>
                        <a:cs typeface="Rubik"/>
                        <a:sym typeface="Rubik"/>
                      </a:endParaRPr>
                    </a:p>
                  </a:txBody>
                  <a:tcPr marT="76200" marB="76200" marR="114300" marL="114300">
                    <a:lnL cap="flat" cmpd="sng" w="79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R + R + R</a:t>
                      </a:r>
                      <a:endParaRPr sz="1100">
                        <a:solidFill>
                          <a:srgbClr val="1F1F1F"/>
                        </a:solidFill>
                        <a:latin typeface="Rubik"/>
                        <a:ea typeface="Rubik"/>
                        <a:cs typeface="Rubik"/>
                        <a:sym typeface="Rubik"/>
                      </a:endParaRPr>
                    </a:p>
                  </a:txBody>
                  <a:tcPr marT="76200" marB="76200" marR="114300" marL="114300">
                    <a:lnL cap="flat" cmpd="sng" w="79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100">
                          <a:solidFill>
                            <a:schemeClr val="dk2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Tiap minggu, 3 jam, ada format laporan baku.</a:t>
                      </a:r>
                      <a:endParaRPr i="1" sz="1100">
                        <a:solidFill>
                          <a:schemeClr val="dk2"/>
                        </a:solidFill>
                        <a:latin typeface="Rubik"/>
                        <a:ea typeface="Rubik"/>
                        <a:cs typeface="Rubik"/>
                        <a:sym typeface="Rubik"/>
                      </a:endParaRPr>
                    </a:p>
                  </a:txBody>
                  <a:tcPr marT="76200" marB="76200" marR="114300" marL="114300">
                    <a:lnL cap="flat" cmpd="sng" w="79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8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100">
                          <a:solidFill>
                            <a:schemeClr val="dk2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Bikin notulen rapat tim mingguan</a:t>
                      </a:r>
                      <a:endParaRPr i="1" sz="1100">
                        <a:solidFill>
                          <a:schemeClr val="dk2"/>
                        </a:solidFill>
                        <a:latin typeface="Rubik"/>
                        <a:ea typeface="Rubik"/>
                        <a:cs typeface="Rubik"/>
                        <a:sym typeface="Rubik"/>
                      </a:endParaRPr>
                    </a:p>
                  </a:txBody>
                  <a:tcPr marT="76200" marB="76200" marR="114300" marL="114300">
                    <a:lnL cap="flat" cmpd="sng" w="79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F569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R + R</a:t>
                      </a:r>
                      <a:endParaRPr sz="1100">
                        <a:solidFill>
                          <a:srgbClr val="1F1F1F"/>
                        </a:solidFill>
                        <a:latin typeface="Rubik"/>
                        <a:ea typeface="Rubik"/>
                        <a:cs typeface="Rubik"/>
                        <a:sym typeface="Rubik"/>
                      </a:endParaRPr>
                    </a:p>
                  </a:txBody>
                  <a:tcPr marT="76200" marB="76200" marR="114300" marL="114300">
                    <a:lnL cap="flat" cmpd="sng" w="79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F569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100">
                          <a:solidFill>
                            <a:schemeClr val="dk2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Tiap minggu, panjang, tapi format bisa bervariasi.</a:t>
                      </a:r>
                      <a:endParaRPr i="1" sz="1100">
                        <a:solidFill>
                          <a:schemeClr val="dk2"/>
                        </a:solidFill>
                        <a:latin typeface="Rubik"/>
                        <a:ea typeface="Rubik"/>
                        <a:cs typeface="Rubik"/>
                        <a:sym typeface="Rubik"/>
                      </a:endParaRPr>
                    </a:p>
                  </a:txBody>
                  <a:tcPr marT="76200" marB="76200" marR="114300" marL="114300">
                    <a:lnL cap="flat" cmpd="sng" w="79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F569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[Tugasmu di sini]</a:t>
                      </a:r>
                      <a:endParaRPr sz="1100">
                        <a:solidFill>
                          <a:srgbClr val="1F1F1F"/>
                        </a:solidFill>
                        <a:latin typeface="Rubik"/>
                        <a:ea typeface="Rubik"/>
                        <a:cs typeface="Rubik"/>
                        <a:sym typeface="Rubik"/>
                      </a:endParaRPr>
                    </a:p>
                  </a:txBody>
                  <a:tcPr marT="76200" marB="76200" marR="114300" marL="114300">
                    <a:lnL cap="flat" cmpd="sng" w="19050">
                      <a:solidFill>
                        <a:srgbClr val="2F569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F569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F569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F569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[R / RR / RRR]</a:t>
                      </a:r>
                      <a:endParaRPr sz="1100">
                        <a:solidFill>
                          <a:srgbClr val="1F1F1F"/>
                        </a:solidFill>
                        <a:latin typeface="Rubik"/>
                        <a:ea typeface="Rubik"/>
                        <a:cs typeface="Rubik"/>
                        <a:sym typeface="Rubik"/>
                      </a:endParaRPr>
                    </a:p>
                  </a:txBody>
                  <a:tcPr marT="76200" marB="76200" marR="114300" marL="114300">
                    <a:lnL cap="flat" cmpd="sng" w="19050">
                      <a:solidFill>
                        <a:srgbClr val="2F569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F569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F569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F569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[Kenapa kamu pilih ini?]</a:t>
                      </a:r>
                      <a:endParaRPr sz="1100">
                        <a:solidFill>
                          <a:srgbClr val="1F1F1F"/>
                        </a:solidFill>
                        <a:latin typeface="Rubik"/>
                        <a:ea typeface="Rubik"/>
                        <a:cs typeface="Rubik"/>
                        <a:sym typeface="Rubik"/>
                      </a:endParaRPr>
                    </a:p>
                  </a:txBody>
                  <a:tcPr marT="76200" marB="76200" marR="114300" marL="114300">
                    <a:lnL cap="flat" cmpd="sng" w="19050">
                      <a:solidFill>
                        <a:srgbClr val="2F569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F569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F569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F569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23" name="Google Shape;123;p22"/>
          <p:cNvSpPr txBox="1"/>
          <p:nvPr/>
        </p:nvSpPr>
        <p:spPr>
          <a:xfrm>
            <a:off x="709800" y="3328950"/>
            <a:ext cx="7869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300">
                <a:solidFill>
                  <a:srgbClr val="141413"/>
                </a:solidFill>
                <a:latin typeface="Rubik"/>
                <a:ea typeface="Rubik"/>
                <a:cs typeface="Rubik"/>
                <a:sym typeface="Rubik"/>
              </a:rPr>
              <a:t>Kalau masih "1R saja" → cari tugas lain yang lebih sering &amp; berpola.</a:t>
            </a:r>
            <a:endParaRPr sz="1300">
              <a:solidFill>
                <a:srgbClr val="000000"/>
              </a:solidFill>
              <a:latin typeface="Rubik"/>
              <a:ea typeface="Rubik"/>
              <a:cs typeface="Rubik"/>
              <a:sym typeface="Rubik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3"/>
          <p:cNvSpPr txBox="1"/>
          <p:nvPr>
            <p:ph idx="4" type="body"/>
          </p:nvPr>
        </p:nvSpPr>
        <p:spPr>
          <a:xfrm>
            <a:off x="808200" y="921300"/>
            <a:ext cx="7800300" cy="42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</a:pPr>
            <a:r>
              <a:rPr lang="en" sz="1395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Perancangan prompt menggunakan </a:t>
            </a:r>
            <a:r>
              <a:rPr b="1" lang="en" sz="1395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Claude Chat</a:t>
            </a:r>
            <a:r>
              <a:rPr lang="en" sz="1395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biasa</a:t>
            </a:r>
            <a:endParaRPr sz="1395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29" name="Google Shape;129;p23"/>
          <p:cNvSpPr txBox="1"/>
          <p:nvPr>
            <p:ph type="title"/>
          </p:nvPr>
        </p:nvSpPr>
        <p:spPr>
          <a:xfrm>
            <a:off x="603925" y="175500"/>
            <a:ext cx="7608600" cy="83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FF2828"/>
                </a:solidFill>
                <a:latin typeface="Rubik"/>
                <a:ea typeface="Rubik"/>
                <a:cs typeface="Rubik"/>
                <a:sym typeface="Rubik"/>
              </a:rPr>
              <a:t>Prompt  Experiment</a:t>
            </a:r>
            <a:endParaRPr b="1">
              <a:solidFill>
                <a:srgbClr val="FF2828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30" name="Google Shape;130;p23"/>
          <p:cNvSpPr txBox="1"/>
          <p:nvPr>
            <p:ph idx="2" type="subTitle"/>
          </p:nvPr>
        </p:nvSpPr>
        <p:spPr>
          <a:xfrm rot="-5400000">
            <a:off x="-551775" y="778875"/>
            <a:ext cx="1609500" cy="40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Assignment: 01</a:t>
            </a:r>
            <a:endParaRPr sz="1200"/>
          </a:p>
        </p:txBody>
      </p:sp>
      <p:sp>
        <p:nvSpPr>
          <p:cNvPr id="131" name="Google Shape;131;p23"/>
          <p:cNvSpPr/>
          <p:nvPr/>
        </p:nvSpPr>
        <p:spPr>
          <a:xfrm>
            <a:off x="723081" y="1446900"/>
            <a:ext cx="3620400" cy="2949600"/>
          </a:xfrm>
          <a:prstGeom prst="rect">
            <a:avLst/>
          </a:prstGeom>
          <a:noFill/>
          <a:ln cap="flat" cmpd="sng" w="19050">
            <a:solidFill>
              <a:srgbClr val="3967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F2343D"/>
                </a:solidFill>
                <a:latin typeface="Rubik"/>
                <a:ea typeface="Rubik"/>
                <a:cs typeface="Rubik"/>
                <a:sym typeface="Rubik"/>
              </a:rPr>
              <a:t>Prompt :</a:t>
            </a:r>
            <a:endParaRPr b="1" sz="2000">
              <a:solidFill>
                <a:srgbClr val="F2343D"/>
              </a:solidFill>
              <a:latin typeface="Rubik"/>
              <a:ea typeface="Rubik"/>
              <a:cs typeface="Rubik"/>
              <a:sym typeface="Rubik"/>
            </a:endParaRPr>
          </a:p>
          <a:p>
            <a:pPr indent="-196850" lvl="0" marL="28575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ubik"/>
              <a:buChar char="●"/>
            </a:pPr>
            <a:r>
              <a:rPr i="1" lang="en" sz="1300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rPr>
              <a:t>Isi prompt yang digunakan disini</a:t>
            </a:r>
            <a:endParaRPr i="1" sz="1300">
              <a:solidFill>
                <a:schemeClr val="dk2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32" name="Google Shape;132;p23"/>
          <p:cNvSpPr/>
          <p:nvPr/>
        </p:nvSpPr>
        <p:spPr>
          <a:xfrm>
            <a:off x="4612125" y="1446900"/>
            <a:ext cx="4351800" cy="2949600"/>
          </a:xfrm>
          <a:prstGeom prst="rect">
            <a:avLst/>
          </a:prstGeom>
          <a:noFill/>
          <a:ln cap="flat" cmpd="sng" w="19050">
            <a:solidFill>
              <a:srgbClr val="3967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solidFill>
                  <a:srgbClr val="F2343D"/>
                </a:solidFill>
                <a:latin typeface="Rubik"/>
                <a:ea typeface="Rubik"/>
                <a:cs typeface="Rubik"/>
                <a:sym typeface="Rubik"/>
              </a:rPr>
              <a:t>RESULT</a:t>
            </a:r>
            <a:endParaRPr b="1" sz="2000">
              <a:solidFill>
                <a:srgbClr val="F2343D"/>
              </a:solidFill>
              <a:latin typeface="Rubik"/>
              <a:ea typeface="Rubik"/>
              <a:cs typeface="Rubik"/>
              <a:sym typeface="Rubik"/>
            </a:endParaRPr>
          </a:p>
          <a:p>
            <a:pPr indent="-196850" lvl="0" marL="28575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ubik"/>
              <a:buChar char="●"/>
            </a:pPr>
            <a:r>
              <a:rPr i="1" lang="en" sz="1300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rPr>
              <a:t>Bisa berupa hasil/screenshot</a:t>
            </a:r>
            <a:endParaRPr i="1" sz="1300">
              <a:solidFill>
                <a:schemeClr val="dk2"/>
              </a:solidFill>
              <a:latin typeface="Rubik"/>
              <a:ea typeface="Rubik"/>
              <a:cs typeface="Rubik"/>
              <a:sym typeface="Rubik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23"/>
          <p:cNvSpPr txBox="1"/>
          <p:nvPr>
            <p:ph idx="1" type="subTitle"/>
          </p:nvPr>
        </p:nvSpPr>
        <p:spPr>
          <a:xfrm rot="-5400000">
            <a:off x="-1364175" y="3149400"/>
            <a:ext cx="3234300" cy="40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>
                <a:latin typeface="Barlow"/>
                <a:ea typeface="Barlow"/>
                <a:cs typeface="Barlow"/>
                <a:sym typeface="Barlow"/>
              </a:rPr>
              <a:t>CLAUDE FOR NON-TECH PROFESSIONALS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4"/>
          <p:cNvSpPr txBox="1"/>
          <p:nvPr>
            <p:ph idx="4" type="body"/>
          </p:nvPr>
        </p:nvSpPr>
        <p:spPr>
          <a:xfrm>
            <a:off x="808200" y="921300"/>
            <a:ext cx="7800300" cy="42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</a:pPr>
            <a:r>
              <a:rPr lang="en" sz="1395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Perancangan prompt menggunakan </a:t>
            </a:r>
            <a:r>
              <a:rPr b="1" lang="en" sz="1395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Skill</a:t>
            </a:r>
            <a:endParaRPr b="1" sz="1395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39" name="Google Shape;139;p24"/>
          <p:cNvSpPr txBox="1"/>
          <p:nvPr>
            <p:ph type="title"/>
          </p:nvPr>
        </p:nvSpPr>
        <p:spPr>
          <a:xfrm>
            <a:off x="603925" y="175500"/>
            <a:ext cx="7608600" cy="83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FF2828"/>
                </a:solidFill>
                <a:latin typeface="Rubik"/>
                <a:ea typeface="Rubik"/>
                <a:cs typeface="Rubik"/>
                <a:sym typeface="Rubik"/>
              </a:rPr>
              <a:t>Prompt  Experiment</a:t>
            </a:r>
            <a:endParaRPr b="1">
              <a:solidFill>
                <a:srgbClr val="FF2828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40" name="Google Shape;140;p24"/>
          <p:cNvSpPr txBox="1"/>
          <p:nvPr>
            <p:ph idx="2" type="subTitle"/>
          </p:nvPr>
        </p:nvSpPr>
        <p:spPr>
          <a:xfrm rot="-5400000">
            <a:off x="-551775" y="778875"/>
            <a:ext cx="1609500" cy="40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Assignment: 01</a:t>
            </a:r>
            <a:endParaRPr sz="1200"/>
          </a:p>
        </p:txBody>
      </p:sp>
      <p:sp>
        <p:nvSpPr>
          <p:cNvPr id="141" name="Google Shape;141;p24"/>
          <p:cNvSpPr/>
          <p:nvPr/>
        </p:nvSpPr>
        <p:spPr>
          <a:xfrm>
            <a:off x="723081" y="1446900"/>
            <a:ext cx="3620400" cy="2949600"/>
          </a:xfrm>
          <a:prstGeom prst="rect">
            <a:avLst/>
          </a:prstGeom>
          <a:noFill/>
          <a:ln cap="flat" cmpd="sng" w="19050">
            <a:solidFill>
              <a:srgbClr val="3967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F2343D"/>
                </a:solidFill>
                <a:latin typeface="Rubik"/>
                <a:ea typeface="Rubik"/>
                <a:cs typeface="Rubik"/>
                <a:sym typeface="Rubik"/>
              </a:rPr>
              <a:t>Prompt :</a:t>
            </a:r>
            <a:endParaRPr b="1" sz="2000">
              <a:solidFill>
                <a:srgbClr val="F2343D"/>
              </a:solidFill>
              <a:latin typeface="Rubik"/>
              <a:ea typeface="Rubik"/>
              <a:cs typeface="Rubik"/>
              <a:sym typeface="Rubik"/>
            </a:endParaRPr>
          </a:p>
          <a:p>
            <a:pPr indent="-196850" lvl="0" marL="28575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ubik"/>
              <a:buChar char="●"/>
            </a:pPr>
            <a:r>
              <a:rPr i="1" lang="en" sz="1300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rPr>
              <a:t>Isi prompt yang digunakan disini</a:t>
            </a:r>
            <a:endParaRPr i="1" sz="1300">
              <a:solidFill>
                <a:schemeClr val="dk2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42" name="Google Shape;142;p24"/>
          <p:cNvSpPr/>
          <p:nvPr/>
        </p:nvSpPr>
        <p:spPr>
          <a:xfrm>
            <a:off x="4612125" y="1446900"/>
            <a:ext cx="4351800" cy="2949600"/>
          </a:xfrm>
          <a:prstGeom prst="rect">
            <a:avLst/>
          </a:prstGeom>
          <a:noFill/>
          <a:ln cap="flat" cmpd="sng" w="19050">
            <a:solidFill>
              <a:srgbClr val="3967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solidFill>
                  <a:srgbClr val="F2343D"/>
                </a:solidFill>
                <a:latin typeface="Rubik"/>
                <a:ea typeface="Rubik"/>
                <a:cs typeface="Rubik"/>
                <a:sym typeface="Rubik"/>
              </a:rPr>
              <a:t>RESULT</a:t>
            </a:r>
            <a:endParaRPr b="1" sz="2000">
              <a:solidFill>
                <a:srgbClr val="F2343D"/>
              </a:solidFill>
              <a:latin typeface="Rubik"/>
              <a:ea typeface="Rubik"/>
              <a:cs typeface="Rubik"/>
              <a:sym typeface="Rubik"/>
            </a:endParaRPr>
          </a:p>
          <a:p>
            <a:pPr indent="-196850" lvl="0" marL="28575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ubik"/>
              <a:buChar char="●"/>
            </a:pPr>
            <a:r>
              <a:rPr i="1" lang="en" sz="1300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rPr>
              <a:t>Bisa berupa hasil/screenshot</a:t>
            </a:r>
            <a:endParaRPr i="1" sz="1300">
              <a:solidFill>
                <a:schemeClr val="dk2"/>
              </a:solidFill>
              <a:latin typeface="Rubik"/>
              <a:ea typeface="Rubik"/>
              <a:cs typeface="Rubik"/>
              <a:sym typeface="Rubik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4"/>
          <p:cNvSpPr txBox="1"/>
          <p:nvPr>
            <p:ph idx="1" type="subTitle"/>
          </p:nvPr>
        </p:nvSpPr>
        <p:spPr>
          <a:xfrm rot="-5400000">
            <a:off x="-1364175" y="3149400"/>
            <a:ext cx="3234300" cy="40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>
                <a:latin typeface="Barlow"/>
                <a:ea typeface="Barlow"/>
                <a:cs typeface="Barlow"/>
                <a:sym typeface="Barlow"/>
              </a:rPr>
              <a:t>CLAUDE FOR NON-TECH PROFESSIONALS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5"/>
          <p:cNvSpPr txBox="1"/>
          <p:nvPr>
            <p:ph idx="4" type="body"/>
          </p:nvPr>
        </p:nvSpPr>
        <p:spPr>
          <a:xfrm>
            <a:off x="808200" y="921300"/>
            <a:ext cx="7800300" cy="42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</a:pPr>
            <a:r>
              <a:rPr lang="en" sz="1395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Perancangan prompt menggunakan </a:t>
            </a:r>
            <a:r>
              <a:rPr b="1" lang="en" sz="1395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MCP/Connector (jika ada)</a:t>
            </a:r>
            <a:endParaRPr b="1" sz="1395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49" name="Google Shape;149;p25"/>
          <p:cNvSpPr txBox="1"/>
          <p:nvPr>
            <p:ph type="title"/>
          </p:nvPr>
        </p:nvSpPr>
        <p:spPr>
          <a:xfrm>
            <a:off x="603925" y="175500"/>
            <a:ext cx="7608600" cy="83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7500"/>
              <a:buFont typeface="Arial"/>
              <a:buNone/>
            </a:pPr>
            <a:r>
              <a:rPr b="1" lang="en">
                <a:solidFill>
                  <a:srgbClr val="FF2828"/>
                </a:solidFill>
                <a:latin typeface="Rubik"/>
                <a:ea typeface="Rubik"/>
                <a:cs typeface="Rubik"/>
                <a:sym typeface="Rubik"/>
              </a:rPr>
              <a:t>Prompt  Experiment (optoinal)</a:t>
            </a:r>
            <a:endParaRPr b="1">
              <a:solidFill>
                <a:srgbClr val="FF2828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50" name="Google Shape;150;p25"/>
          <p:cNvSpPr txBox="1"/>
          <p:nvPr>
            <p:ph idx="2" type="subTitle"/>
          </p:nvPr>
        </p:nvSpPr>
        <p:spPr>
          <a:xfrm rot="-5400000">
            <a:off x="-551775" y="778875"/>
            <a:ext cx="1609500" cy="40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Assignment: 01</a:t>
            </a:r>
            <a:endParaRPr sz="1200"/>
          </a:p>
        </p:txBody>
      </p:sp>
      <p:sp>
        <p:nvSpPr>
          <p:cNvPr id="151" name="Google Shape;151;p25"/>
          <p:cNvSpPr/>
          <p:nvPr/>
        </p:nvSpPr>
        <p:spPr>
          <a:xfrm>
            <a:off x="723081" y="1446900"/>
            <a:ext cx="3620400" cy="2949600"/>
          </a:xfrm>
          <a:prstGeom prst="rect">
            <a:avLst/>
          </a:prstGeom>
          <a:noFill/>
          <a:ln cap="flat" cmpd="sng" w="19050">
            <a:solidFill>
              <a:srgbClr val="3967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F2343D"/>
                </a:solidFill>
                <a:latin typeface="Rubik"/>
                <a:ea typeface="Rubik"/>
                <a:cs typeface="Rubik"/>
                <a:sym typeface="Rubik"/>
              </a:rPr>
              <a:t>Prompt :</a:t>
            </a:r>
            <a:endParaRPr b="1" sz="2000">
              <a:solidFill>
                <a:srgbClr val="F2343D"/>
              </a:solidFill>
              <a:latin typeface="Rubik"/>
              <a:ea typeface="Rubik"/>
              <a:cs typeface="Rubik"/>
              <a:sym typeface="Rubik"/>
            </a:endParaRPr>
          </a:p>
          <a:p>
            <a:pPr indent="-196850" lvl="0" marL="28575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ubik"/>
              <a:buChar char="●"/>
            </a:pPr>
            <a:r>
              <a:rPr i="1" lang="en" sz="1300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rPr>
              <a:t>Isi prompt yang digunakan disini</a:t>
            </a:r>
            <a:endParaRPr i="1" sz="1300">
              <a:solidFill>
                <a:schemeClr val="dk2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52" name="Google Shape;152;p25"/>
          <p:cNvSpPr/>
          <p:nvPr/>
        </p:nvSpPr>
        <p:spPr>
          <a:xfrm>
            <a:off x="4612125" y="1446900"/>
            <a:ext cx="4351800" cy="2949600"/>
          </a:xfrm>
          <a:prstGeom prst="rect">
            <a:avLst/>
          </a:prstGeom>
          <a:noFill/>
          <a:ln cap="flat" cmpd="sng" w="19050">
            <a:solidFill>
              <a:srgbClr val="3967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solidFill>
                  <a:srgbClr val="F2343D"/>
                </a:solidFill>
                <a:latin typeface="Rubik"/>
                <a:ea typeface="Rubik"/>
                <a:cs typeface="Rubik"/>
                <a:sym typeface="Rubik"/>
              </a:rPr>
              <a:t>RESULT</a:t>
            </a:r>
            <a:endParaRPr b="1" sz="2000">
              <a:solidFill>
                <a:srgbClr val="F2343D"/>
              </a:solidFill>
              <a:latin typeface="Rubik"/>
              <a:ea typeface="Rubik"/>
              <a:cs typeface="Rubik"/>
              <a:sym typeface="Rubik"/>
            </a:endParaRPr>
          </a:p>
          <a:p>
            <a:pPr indent="-196850" lvl="0" marL="28575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ubik"/>
              <a:buChar char="●"/>
            </a:pPr>
            <a:r>
              <a:rPr i="1" lang="en" sz="1300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rPr>
              <a:t>Bisa berupa hasil/screenshot</a:t>
            </a:r>
            <a:endParaRPr i="1" sz="1300">
              <a:solidFill>
                <a:schemeClr val="dk2"/>
              </a:solidFill>
              <a:latin typeface="Rubik"/>
              <a:ea typeface="Rubik"/>
              <a:cs typeface="Rubik"/>
              <a:sym typeface="Rubik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25"/>
          <p:cNvSpPr txBox="1"/>
          <p:nvPr>
            <p:ph idx="1" type="subTitle"/>
          </p:nvPr>
        </p:nvSpPr>
        <p:spPr>
          <a:xfrm rot="-5400000">
            <a:off x="-1364175" y="3149400"/>
            <a:ext cx="3234300" cy="40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>
                <a:latin typeface="Barlow"/>
                <a:ea typeface="Barlow"/>
                <a:cs typeface="Barlow"/>
                <a:sym typeface="Barlow"/>
              </a:rPr>
              <a:t>CLAUDE FOR NON-TECH PROFESSIONALS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6"/>
          <p:cNvSpPr txBox="1"/>
          <p:nvPr>
            <p:ph idx="4" type="body"/>
          </p:nvPr>
        </p:nvSpPr>
        <p:spPr>
          <a:xfrm>
            <a:off x="808200" y="921300"/>
            <a:ext cx="7800300" cy="42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</a:pPr>
            <a:r>
              <a:rPr lang="en" sz="1395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Merancang system prompt untuk memberikan aturan dasar dalam prompting</a:t>
            </a:r>
            <a:endParaRPr sz="1395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59" name="Google Shape;159;p26"/>
          <p:cNvSpPr txBox="1"/>
          <p:nvPr>
            <p:ph type="title"/>
          </p:nvPr>
        </p:nvSpPr>
        <p:spPr>
          <a:xfrm>
            <a:off x="603925" y="175500"/>
            <a:ext cx="7608600" cy="83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FF2828"/>
                </a:solidFill>
                <a:latin typeface="Rubik"/>
                <a:ea typeface="Rubik"/>
                <a:cs typeface="Rubik"/>
                <a:sym typeface="Rubik"/>
              </a:rPr>
              <a:t>Claude Project</a:t>
            </a:r>
            <a:endParaRPr b="1">
              <a:solidFill>
                <a:srgbClr val="FF2828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60" name="Google Shape;160;p26"/>
          <p:cNvSpPr txBox="1"/>
          <p:nvPr>
            <p:ph idx="2" type="subTitle"/>
          </p:nvPr>
        </p:nvSpPr>
        <p:spPr>
          <a:xfrm rot="-5400000">
            <a:off x="-551775" y="778875"/>
            <a:ext cx="1609500" cy="40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Assignment: 01</a:t>
            </a:r>
            <a:endParaRPr sz="1200"/>
          </a:p>
        </p:txBody>
      </p:sp>
      <p:sp>
        <p:nvSpPr>
          <p:cNvPr id="161" name="Google Shape;161;p26"/>
          <p:cNvSpPr/>
          <p:nvPr/>
        </p:nvSpPr>
        <p:spPr>
          <a:xfrm>
            <a:off x="723075" y="1446900"/>
            <a:ext cx="1919700" cy="3444900"/>
          </a:xfrm>
          <a:prstGeom prst="rect">
            <a:avLst/>
          </a:prstGeom>
          <a:noFill/>
          <a:ln cap="flat" cmpd="sng" w="19050">
            <a:solidFill>
              <a:srgbClr val="3967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F2343D"/>
                </a:solidFill>
                <a:latin typeface="Rubik"/>
                <a:ea typeface="Rubik"/>
                <a:cs typeface="Rubik"/>
                <a:sym typeface="Rubik"/>
              </a:rPr>
              <a:t>ROLE</a:t>
            </a:r>
            <a:endParaRPr b="1" sz="2000">
              <a:solidFill>
                <a:srgbClr val="F2343D"/>
              </a:solidFill>
              <a:latin typeface="Rubik"/>
              <a:ea typeface="Rubik"/>
              <a:cs typeface="Rubik"/>
              <a:sym typeface="Rubik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A1E27"/>
                </a:solidFill>
                <a:latin typeface="Rubik"/>
                <a:ea typeface="Rubik"/>
                <a:cs typeface="Rubik"/>
                <a:sym typeface="Rubik"/>
              </a:rPr>
              <a:t>Peran AI dalam</a:t>
            </a:r>
            <a:r>
              <a:rPr lang="en">
                <a:solidFill>
                  <a:srgbClr val="1A1E27"/>
                </a:solidFill>
                <a:latin typeface="Rubik"/>
                <a:ea typeface="Rubik"/>
                <a:cs typeface="Rubik"/>
                <a:sym typeface="Rubik"/>
              </a:rPr>
              <a:t> Sistem</a:t>
            </a:r>
            <a:endParaRPr>
              <a:solidFill>
                <a:srgbClr val="1A1E27"/>
              </a:solidFill>
              <a:latin typeface="Rubik"/>
              <a:ea typeface="Rubik"/>
              <a:cs typeface="Rubik"/>
              <a:sym typeface="Rubik"/>
            </a:endParaRPr>
          </a:p>
          <a:p>
            <a:pPr indent="-177800" lvl="0" marL="285750" rtl="0" algn="l">
              <a:spcBef>
                <a:spcPts val="1000"/>
              </a:spcBef>
              <a:spcAft>
                <a:spcPts val="0"/>
              </a:spcAft>
              <a:buClr>
                <a:srgbClr val="1A1E27"/>
              </a:buClr>
              <a:buSzPts val="1000"/>
              <a:buFont typeface="Rubik"/>
              <a:buChar char="●"/>
            </a:pPr>
            <a:r>
              <a:t/>
            </a:r>
            <a:endParaRPr sz="1000">
              <a:solidFill>
                <a:srgbClr val="1A1E27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62" name="Google Shape;162;p26"/>
          <p:cNvSpPr/>
          <p:nvPr/>
        </p:nvSpPr>
        <p:spPr>
          <a:xfrm>
            <a:off x="2834384" y="1446900"/>
            <a:ext cx="1919700" cy="3444900"/>
          </a:xfrm>
          <a:prstGeom prst="rect">
            <a:avLst/>
          </a:prstGeom>
          <a:noFill/>
          <a:ln cap="flat" cmpd="sng" w="19050">
            <a:solidFill>
              <a:srgbClr val="3967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solidFill>
                  <a:srgbClr val="F2343D"/>
                </a:solidFill>
                <a:latin typeface="Rubik"/>
                <a:ea typeface="Rubik"/>
                <a:cs typeface="Rubik"/>
                <a:sym typeface="Rubik"/>
              </a:rPr>
              <a:t>TASK</a:t>
            </a:r>
            <a:endParaRPr b="1" sz="2000">
              <a:solidFill>
                <a:srgbClr val="F2343D"/>
              </a:solidFill>
              <a:latin typeface="Rubik"/>
              <a:ea typeface="Rubik"/>
              <a:cs typeface="Rubik"/>
              <a:sym typeface="Rubik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A1E27"/>
                </a:solidFill>
                <a:latin typeface="Rubik"/>
                <a:ea typeface="Rubik"/>
                <a:cs typeface="Rubik"/>
                <a:sym typeface="Rubik"/>
              </a:rPr>
              <a:t>Tugas yang Wajib</a:t>
            </a:r>
            <a:r>
              <a:rPr lang="en">
                <a:solidFill>
                  <a:srgbClr val="1A1E27"/>
                </a:solidFill>
                <a:latin typeface="Rubik"/>
                <a:ea typeface="Rubik"/>
                <a:cs typeface="Rubik"/>
                <a:sym typeface="Rubik"/>
              </a:rPr>
              <a:t> AI Kerjakan</a:t>
            </a:r>
            <a:endParaRPr>
              <a:solidFill>
                <a:srgbClr val="1A1E27"/>
              </a:solidFill>
              <a:latin typeface="Rubik"/>
              <a:ea typeface="Rubik"/>
              <a:cs typeface="Rubik"/>
              <a:sym typeface="Rubik"/>
            </a:endParaRPr>
          </a:p>
          <a:p>
            <a:pPr indent="-177800" lvl="0" marL="285750" rtl="0" algn="l">
              <a:spcBef>
                <a:spcPts val="1000"/>
              </a:spcBef>
              <a:spcAft>
                <a:spcPts val="0"/>
              </a:spcAft>
              <a:buClr>
                <a:srgbClr val="1A1E27"/>
              </a:buClr>
              <a:buSzPts val="1000"/>
              <a:buFont typeface="Rubik"/>
              <a:buChar char="●"/>
            </a:pPr>
            <a:r>
              <a:t/>
            </a:r>
            <a:endParaRPr sz="1000">
              <a:solidFill>
                <a:srgbClr val="1A1E27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63" name="Google Shape;163;p26"/>
          <p:cNvSpPr/>
          <p:nvPr/>
        </p:nvSpPr>
        <p:spPr>
          <a:xfrm>
            <a:off x="4927726" y="1446900"/>
            <a:ext cx="1919700" cy="3444900"/>
          </a:xfrm>
          <a:prstGeom prst="rect">
            <a:avLst/>
          </a:prstGeom>
          <a:noFill/>
          <a:ln cap="flat" cmpd="sng" w="19050">
            <a:solidFill>
              <a:srgbClr val="3967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solidFill>
                  <a:srgbClr val="F2343D"/>
                </a:solidFill>
                <a:latin typeface="Rubik"/>
                <a:ea typeface="Rubik"/>
                <a:cs typeface="Rubik"/>
                <a:sym typeface="Rubik"/>
              </a:rPr>
              <a:t>CONTEXT</a:t>
            </a:r>
            <a:endParaRPr b="1" sz="2000">
              <a:solidFill>
                <a:srgbClr val="F2343D"/>
              </a:solidFill>
              <a:latin typeface="Rubik"/>
              <a:ea typeface="Rubik"/>
              <a:cs typeface="Rubik"/>
              <a:sym typeface="Rubik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rgbClr val="1A1E27"/>
                </a:solidFill>
                <a:latin typeface="Rubik"/>
                <a:ea typeface="Rubik"/>
                <a:cs typeface="Rubik"/>
                <a:sym typeface="Rubik"/>
              </a:rPr>
              <a:t>Pengetahuan Dasar yang dibutuhkan AI</a:t>
            </a:r>
            <a:endParaRPr sz="1300">
              <a:solidFill>
                <a:srgbClr val="1A1E27"/>
              </a:solidFill>
              <a:latin typeface="Rubik"/>
              <a:ea typeface="Rubik"/>
              <a:cs typeface="Rubik"/>
              <a:sym typeface="Rubik"/>
            </a:endParaRPr>
          </a:p>
          <a:p>
            <a:pPr indent="-177800" lvl="0" marL="285750" rtl="0" algn="l">
              <a:spcBef>
                <a:spcPts val="1000"/>
              </a:spcBef>
              <a:spcAft>
                <a:spcPts val="0"/>
              </a:spcAft>
              <a:buClr>
                <a:srgbClr val="1A1E27"/>
              </a:buClr>
              <a:buSzPts val="1000"/>
              <a:buFont typeface="Rubik"/>
              <a:buChar char="●"/>
            </a:pPr>
            <a:r>
              <a:t/>
            </a:r>
            <a:endParaRPr sz="1000">
              <a:solidFill>
                <a:srgbClr val="1A1E27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64" name="Google Shape;164;p26"/>
          <p:cNvSpPr/>
          <p:nvPr/>
        </p:nvSpPr>
        <p:spPr>
          <a:xfrm>
            <a:off x="7044177" y="1446900"/>
            <a:ext cx="1919700" cy="3444900"/>
          </a:xfrm>
          <a:prstGeom prst="rect">
            <a:avLst/>
          </a:prstGeom>
          <a:noFill/>
          <a:ln cap="flat" cmpd="sng" w="19050">
            <a:solidFill>
              <a:srgbClr val="3967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solidFill>
                  <a:srgbClr val="F2343D"/>
                </a:solidFill>
                <a:latin typeface="Rubik"/>
                <a:ea typeface="Rubik"/>
                <a:cs typeface="Rubik"/>
                <a:sym typeface="Rubik"/>
              </a:rPr>
              <a:t>FORMAT</a:t>
            </a:r>
            <a:endParaRPr b="1" sz="2000">
              <a:solidFill>
                <a:srgbClr val="F2343D"/>
              </a:solidFill>
              <a:latin typeface="Rubik"/>
              <a:ea typeface="Rubik"/>
              <a:cs typeface="Rubik"/>
              <a:sym typeface="Rubik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1A1E27"/>
                </a:solidFill>
                <a:latin typeface="Rubik"/>
                <a:ea typeface="Rubik"/>
                <a:cs typeface="Rubik"/>
                <a:sym typeface="Rubik"/>
              </a:rPr>
              <a:t>Output yang diharapkan dari Pengerjaan oleh AI</a:t>
            </a:r>
            <a:endParaRPr>
              <a:solidFill>
                <a:srgbClr val="1A1E27"/>
              </a:solidFill>
              <a:latin typeface="Rubik"/>
              <a:ea typeface="Rubik"/>
              <a:cs typeface="Rubik"/>
              <a:sym typeface="Rubik"/>
            </a:endParaRPr>
          </a:p>
          <a:p>
            <a:pPr indent="-177800" lvl="0" marL="285750" rtl="0" algn="l">
              <a:spcBef>
                <a:spcPts val="1000"/>
              </a:spcBef>
              <a:spcAft>
                <a:spcPts val="0"/>
              </a:spcAft>
              <a:buClr>
                <a:srgbClr val="1A1E27"/>
              </a:buClr>
              <a:buSzPts val="1000"/>
              <a:buFont typeface="Rubik"/>
              <a:buChar char="●"/>
            </a:pPr>
            <a:r>
              <a:t/>
            </a:r>
            <a:endParaRPr sz="1000"/>
          </a:p>
        </p:txBody>
      </p:sp>
      <p:sp>
        <p:nvSpPr>
          <p:cNvPr id="165" name="Google Shape;165;p26"/>
          <p:cNvSpPr txBox="1"/>
          <p:nvPr>
            <p:ph idx="1" type="subTitle"/>
          </p:nvPr>
        </p:nvSpPr>
        <p:spPr>
          <a:xfrm rot="-5400000">
            <a:off x="-1364175" y="3149400"/>
            <a:ext cx="3234300" cy="40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>
                <a:latin typeface="Barlow"/>
                <a:ea typeface="Barlow"/>
                <a:cs typeface="Barlow"/>
                <a:sym typeface="Barlow"/>
              </a:rPr>
              <a:t>CLAUDE FOR NON-TECH PROFESSIONALS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7"/>
          <p:cNvSpPr/>
          <p:nvPr/>
        </p:nvSpPr>
        <p:spPr>
          <a:xfrm>
            <a:off x="687125" y="1785075"/>
            <a:ext cx="3736200" cy="2949600"/>
          </a:xfrm>
          <a:prstGeom prst="rect">
            <a:avLst/>
          </a:prstGeom>
          <a:noFill/>
          <a:ln cap="flat" cmpd="sng" w="19050">
            <a:solidFill>
              <a:srgbClr val="3967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27"/>
          <p:cNvSpPr txBox="1"/>
          <p:nvPr/>
        </p:nvSpPr>
        <p:spPr>
          <a:xfrm>
            <a:off x="685775" y="1889050"/>
            <a:ext cx="3886200" cy="27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F2343D"/>
                </a:solidFill>
                <a:latin typeface="Rubik"/>
                <a:ea typeface="Rubik"/>
                <a:cs typeface="Rubik"/>
                <a:sym typeface="Rubik"/>
              </a:rPr>
              <a:t>Artifact 1</a:t>
            </a:r>
            <a:endParaRPr b="1" sz="2000">
              <a:solidFill>
                <a:srgbClr val="F2343D"/>
              </a:solidFill>
              <a:latin typeface="Rubik"/>
              <a:ea typeface="Rubik"/>
              <a:cs typeface="Rubik"/>
              <a:sym typeface="Rubik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rgbClr val="1A1E27"/>
              </a:buClr>
              <a:buSzPts val="1400"/>
              <a:buFont typeface="Rubik"/>
              <a:buChar char="●"/>
            </a:pPr>
            <a:r>
              <a:t/>
            </a:r>
            <a:endParaRPr>
              <a:solidFill>
                <a:srgbClr val="1A1E27"/>
              </a:solidFill>
              <a:latin typeface="Rubik"/>
              <a:ea typeface="Rubik"/>
              <a:cs typeface="Rubik"/>
              <a:sym typeface="Rubik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rgbClr val="333333"/>
              </a:solidFill>
              <a:latin typeface="Rubik"/>
              <a:ea typeface="Rubik"/>
              <a:cs typeface="Rubik"/>
              <a:sym typeface="Rubi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72" name="Google Shape;172;p27"/>
          <p:cNvSpPr txBox="1"/>
          <p:nvPr/>
        </p:nvSpPr>
        <p:spPr>
          <a:xfrm>
            <a:off x="603925" y="175500"/>
            <a:ext cx="8382300" cy="8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F2343D"/>
                </a:solidFill>
                <a:latin typeface="Rubik"/>
                <a:ea typeface="Rubik"/>
                <a:cs typeface="Rubik"/>
                <a:sym typeface="Rubik"/>
              </a:rPr>
              <a:t>Claude Artifact</a:t>
            </a:r>
            <a:endParaRPr b="1" sz="4000">
              <a:solidFill>
                <a:srgbClr val="F2343D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73" name="Google Shape;173;p27"/>
          <p:cNvSpPr txBox="1"/>
          <p:nvPr/>
        </p:nvSpPr>
        <p:spPr>
          <a:xfrm>
            <a:off x="685775" y="958250"/>
            <a:ext cx="8225700" cy="4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Buatlah minimal 2 Artifact (salah satunya dalam bentuk output dokumen/template) yang dapat membantu kamu menyelesaikan problem dari task yang dipilih</a:t>
            </a:r>
            <a:endParaRPr sz="130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74" name="Google Shape;174;p27"/>
          <p:cNvSpPr txBox="1"/>
          <p:nvPr>
            <p:ph idx="2" type="subTitle"/>
          </p:nvPr>
        </p:nvSpPr>
        <p:spPr>
          <a:xfrm rot="-5400000">
            <a:off x="-551775" y="778875"/>
            <a:ext cx="1609500" cy="40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Assignment: 01</a:t>
            </a:r>
            <a:endParaRPr sz="1200"/>
          </a:p>
        </p:txBody>
      </p:sp>
      <p:sp>
        <p:nvSpPr>
          <p:cNvPr id="175" name="Google Shape;175;p27"/>
          <p:cNvSpPr txBox="1"/>
          <p:nvPr>
            <p:ph idx="1" type="subTitle"/>
          </p:nvPr>
        </p:nvSpPr>
        <p:spPr>
          <a:xfrm rot="-5400000">
            <a:off x="-1364175" y="3149400"/>
            <a:ext cx="3234300" cy="40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>
                <a:latin typeface="Barlow"/>
                <a:ea typeface="Barlow"/>
                <a:cs typeface="Barlow"/>
                <a:sym typeface="Barlow"/>
              </a:rPr>
              <a:t>CLAUDE FOR NON-TECH PROFESSIONALS</a:t>
            </a:r>
            <a:endParaRPr/>
          </a:p>
        </p:txBody>
      </p:sp>
      <p:sp>
        <p:nvSpPr>
          <p:cNvPr id="176" name="Google Shape;176;p27"/>
          <p:cNvSpPr/>
          <p:nvPr>
            <p:ph idx="2" type="pic"/>
          </p:nvPr>
        </p:nvSpPr>
        <p:spPr>
          <a:xfrm>
            <a:off x="4571975" y="1785075"/>
            <a:ext cx="4305600" cy="29496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8"/>
          <p:cNvSpPr/>
          <p:nvPr/>
        </p:nvSpPr>
        <p:spPr>
          <a:xfrm>
            <a:off x="687125" y="1785075"/>
            <a:ext cx="3736200" cy="2949600"/>
          </a:xfrm>
          <a:prstGeom prst="rect">
            <a:avLst/>
          </a:prstGeom>
          <a:noFill/>
          <a:ln cap="flat" cmpd="sng" w="19050">
            <a:solidFill>
              <a:srgbClr val="3967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28"/>
          <p:cNvSpPr txBox="1"/>
          <p:nvPr/>
        </p:nvSpPr>
        <p:spPr>
          <a:xfrm>
            <a:off x="663489" y="1869225"/>
            <a:ext cx="3736200" cy="27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solidFill>
                  <a:srgbClr val="F2343D"/>
                </a:solidFill>
                <a:latin typeface="Rubik"/>
                <a:ea typeface="Rubik"/>
                <a:cs typeface="Rubik"/>
                <a:sym typeface="Rubik"/>
              </a:rPr>
              <a:t>Artifact 2</a:t>
            </a:r>
            <a:endParaRPr b="1" sz="2000">
              <a:solidFill>
                <a:srgbClr val="F2343D"/>
              </a:solidFill>
              <a:latin typeface="Rubik"/>
              <a:ea typeface="Rubik"/>
              <a:cs typeface="Rubik"/>
              <a:sym typeface="Rubik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rgbClr val="1A1E27"/>
              </a:buClr>
              <a:buSzPts val="1400"/>
              <a:buFont typeface="Rubik"/>
              <a:buChar char="●"/>
            </a:pPr>
            <a:r>
              <a:t/>
            </a:r>
            <a:endParaRPr>
              <a:solidFill>
                <a:srgbClr val="1A1E27"/>
              </a:solidFill>
              <a:latin typeface="Rubik"/>
              <a:ea typeface="Rubik"/>
              <a:cs typeface="Rubik"/>
              <a:sym typeface="Rubik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solidFill>
                <a:srgbClr val="1A1E27"/>
              </a:solidFill>
              <a:latin typeface="Rubik"/>
              <a:ea typeface="Rubik"/>
              <a:cs typeface="Rubik"/>
              <a:sym typeface="Rubik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rgbClr val="333333"/>
              </a:solidFill>
              <a:latin typeface="Rubik"/>
              <a:ea typeface="Rubik"/>
              <a:cs typeface="Rubik"/>
              <a:sym typeface="Rubi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>
              <a:solidFill>
                <a:srgbClr val="1A1E27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83" name="Google Shape;183;p28"/>
          <p:cNvSpPr txBox="1"/>
          <p:nvPr/>
        </p:nvSpPr>
        <p:spPr>
          <a:xfrm>
            <a:off x="603925" y="175500"/>
            <a:ext cx="8382300" cy="8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F2343D"/>
                </a:solidFill>
                <a:latin typeface="Rubik"/>
                <a:ea typeface="Rubik"/>
                <a:cs typeface="Rubik"/>
                <a:sym typeface="Rubik"/>
              </a:rPr>
              <a:t>Claude Artifact</a:t>
            </a:r>
            <a:endParaRPr b="1" sz="4000">
              <a:solidFill>
                <a:srgbClr val="F2343D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84" name="Google Shape;184;p28"/>
          <p:cNvSpPr txBox="1"/>
          <p:nvPr/>
        </p:nvSpPr>
        <p:spPr>
          <a:xfrm>
            <a:off x="685775" y="958250"/>
            <a:ext cx="8225700" cy="4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Buatlah minimal 2 Artifact (salah satunya dalam bentuk output dokumen/template) yang dapat membantu kamu menyelesaikan problem dari task yang dipilih</a:t>
            </a:r>
            <a:endParaRPr sz="130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85" name="Google Shape;185;p28"/>
          <p:cNvSpPr txBox="1"/>
          <p:nvPr>
            <p:ph idx="2" type="subTitle"/>
          </p:nvPr>
        </p:nvSpPr>
        <p:spPr>
          <a:xfrm rot="-5400000">
            <a:off x="-551775" y="778875"/>
            <a:ext cx="1609500" cy="40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Assignment: 01</a:t>
            </a:r>
            <a:endParaRPr sz="1200"/>
          </a:p>
        </p:txBody>
      </p:sp>
      <p:sp>
        <p:nvSpPr>
          <p:cNvPr id="186" name="Google Shape;186;p28"/>
          <p:cNvSpPr txBox="1"/>
          <p:nvPr>
            <p:ph idx="1" type="subTitle"/>
          </p:nvPr>
        </p:nvSpPr>
        <p:spPr>
          <a:xfrm rot="-5400000">
            <a:off x="-1364175" y="3149400"/>
            <a:ext cx="3234300" cy="40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>
                <a:latin typeface="Barlow"/>
                <a:ea typeface="Barlow"/>
                <a:cs typeface="Barlow"/>
                <a:sym typeface="Barlow"/>
              </a:rPr>
              <a:t>CLAUDE FOR NON-TECH PROFESSIONALS</a:t>
            </a:r>
            <a:endParaRPr/>
          </a:p>
        </p:txBody>
      </p:sp>
      <p:sp>
        <p:nvSpPr>
          <p:cNvPr id="187" name="Google Shape;187;p28"/>
          <p:cNvSpPr/>
          <p:nvPr>
            <p:ph idx="2" type="pic"/>
          </p:nvPr>
        </p:nvSpPr>
        <p:spPr>
          <a:xfrm>
            <a:off x="4515775" y="1785075"/>
            <a:ext cx="4305600" cy="29496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9"/>
          <p:cNvSpPr txBox="1"/>
          <p:nvPr>
            <p:ph idx="4" type="body"/>
          </p:nvPr>
        </p:nvSpPr>
        <p:spPr>
          <a:xfrm>
            <a:off x="808200" y="921300"/>
            <a:ext cx="7800300" cy="42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12"/>
              <a:buFont typeface="Arial"/>
              <a:buNone/>
            </a:pPr>
            <a:r>
              <a:rPr lang="en" sz="1077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Apa yang kamu rasakan ketika menggunakan 3 cara prompting yang berbeda dan perbedaan prompting chat biasa dengan Claude Project? Jelaskan</a:t>
            </a:r>
            <a:endParaRPr sz="1077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93" name="Google Shape;193;p29"/>
          <p:cNvSpPr txBox="1"/>
          <p:nvPr>
            <p:ph type="title"/>
          </p:nvPr>
        </p:nvSpPr>
        <p:spPr>
          <a:xfrm>
            <a:off x="603925" y="175500"/>
            <a:ext cx="7608600" cy="83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FF2828"/>
                </a:solidFill>
                <a:latin typeface="Rubik"/>
                <a:ea typeface="Rubik"/>
                <a:cs typeface="Rubik"/>
                <a:sym typeface="Rubik"/>
              </a:rPr>
              <a:t>Reflection</a:t>
            </a:r>
            <a:endParaRPr b="1">
              <a:solidFill>
                <a:srgbClr val="FF2828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94" name="Google Shape;194;p29"/>
          <p:cNvSpPr txBox="1"/>
          <p:nvPr>
            <p:ph idx="2" type="subTitle"/>
          </p:nvPr>
        </p:nvSpPr>
        <p:spPr>
          <a:xfrm rot="-5400000">
            <a:off x="-551775" y="778875"/>
            <a:ext cx="1609500" cy="40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Assignment: 01</a:t>
            </a:r>
            <a:endParaRPr sz="1200"/>
          </a:p>
        </p:txBody>
      </p:sp>
      <p:sp>
        <p:nvSpPr>
          <p:cNvPr id="195" name="Google Shape;195;p29"/>
          <p:cNvSpPr/>
          <p:nvPr/>
        </p:nvSpPr>
        <p:spPr>
          <a:xfrm>
            <a:off x="808200" y="1516525"/>
            <a:ext cx="8155800" cy="2949600"/>
          </a:xfrm>
          <a:prstGeom prst="rect">
            <a:avLst/>
          </a:prstGeom>
          <a:noFill/>
          <a:ln cap="flat" cmpd="sng" w="19050">
            <a:solidFill>
              <a:srgbClr val="3967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solidFill>
                  <a:srgbClr val="F2343D"/>
                </a:solidFill>
                <a:latin typeface="Rubik"/>
                <a:ea typeface="Rubik"/>
                <a:cs typeface="Rubik"/>
                <a:sym typeface="Rubik"/>
              </a:rPr>
              <a:t>EVALUATION</a:t>
            </a:r>
            <a:endParaRPr b="1" sz="2000">
              <a:solidFill>
                <a:srgbClr val="F2343D"/>
              </a:solidFill>
              <a:latin typeface="Rubik"/>
              <a:ea typeface="Rubik"/>
              <a:cs typeface="Rubik"/>
              <a:sym typeface="Rubik"/>
            </a:endParaRPr>
          </a:p>
          <a:p>
            <a:pPr indent="-203200" lvl="0" marL="285750" rtl="0" algn="l">
              <a:spcBef>
                <a:spcPts val="1000"/>
              </a:spcBef>
              <a:spcAft>
                <a:spcPts val="0"/>
              </a:spcAft>
              <a:buClr>
                <a:srgbClr val="1A1E27"/>
              </a:buClr>
              <a:buSzPts val="1400"/>
              <a:buFont typeface="Rubik"/>
              <a:buChar char="●"/>
            </a:pPr>
            <a:r>
              <a:t/>
            </a:r>
            <a:endParaRPr>
              <a:solidFill>
                <a:srgbClr val="1A1E27"/>
              </a:solidFill>
              <a:latin typeface="Rubik"/>
              <a:ea typeface="Rubik"/>
              <a:cs typeface="Rubik"/>
              <a:sym typeface="Rubik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29"/>
          <p:cNvSpPr txBox="1"/>
          <p:nvPr>
            <p:ph idx="1" type="subTitle"/>
          </p:nvPr>
        </p:nvSpPr>
        <p:spPr>
          <a:xfrm rot="-5400000">
            <a:off x="-1364175" y="3149400"/>
            <a:ext cx="3234300" cy="40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>
                <a:latin typeface="Barlow"/>
                <a:ea typeface="Barlow"/>
                <a:cs typeface="Barlow"/>
                <a:sym typeface="Barlow"/>
              </a:rPr>
              <a:t>CLAUDE FOR NON-TECH PROFESSIONALS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3170E2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